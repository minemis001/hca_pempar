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Raleway Medium" charset="1" panose="00000000000000000000"/>
      <p:regular r:id="rId17"/>
    </p:embeddedFont>
    <p:embeddedFont>
      <p:font typeface="Raleway Semi-Bold" charset="1" panose="00000000000000000000"/>
      <p:regular r:id="rId18"/>
    </p:embeddedFont>
    <p:embeddedFont>
      <p:font typeface="Raleway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923791" y="-783256"/>
            <a:ext cx="11853512" cy="11853512"/>
          </a:xfrm>
          <a:custGeom>
            <a:avLst/>
            <a:gdLst/>
            <a:ahLst/>
            <a:cxnLst/>
            <a:rect r="r" b="b" t="t" l="l"/>
            <a:pathLst>
              <a:path h="11853512" w="11853512">
                <a:moveTo>
                  <a:pt x="0" y="0"/>
                </a:moveTo>
                <a:lnTo>
                  <a:pt x="11853513" y="0"/>
                </a:lnTo>
                <a:lnTo>
                  <a:pt x="11853513"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449909" y="2617199"/>
            <a:ext cx="6577001" cy="6248151"/>
          </a:xfrm>
          <a:custGeom>
            <a:avLst/>
            <a:gdLst/>
            <a:ahLst/>
            <a:cxnLst/>
            <a:rect r="r" b="b" t="t" l="l"/>
            <a:pathLst>
              <a:path h="6248151" w="6577001">
                <a:moveTo>
                  <a:pt x="0" y="0"/>
                </a:moveTo>
                <a:lnTo>
                  <a:pt x="6577001" y="0"/>
                </a:lnTo>
                <a:lnTo>
                  <a:pt x="6577001" y="6248151"/>
                </a:lnTo>
                <a:lnTo>
                  <a:pt x="0" y="6248151"/>
                </a:lnTo>
                <a:lnTo>
                  <a:pt x="0" y="0"/>
                </a:lnTo>
                <a:close/>
              </a:path>
            </a:pathLst>
          </a:custGeom>
          <a:blipFill>
            <a:blip r:embed="rId4"/>
            <a:stretch>
              <a:fillRect l="0" t="0" r="0" b="0"/>
            </a:stretch>
          </a:blipFill>
        </p:spPr>
      </p:sp>
      <p:sp>
        <p:nvSpPr>
          <p:cNvPr name="TextBox 4" id="4"/>
          <p:cNvSpPr txBox="true"/>
          <p:nvPr/>
        </p:nvSpPr>
        <p:spPr>
          <a:xfrm rot="0">
            <a:off x="1219200" y="3269188"/>
            <a:ext cx="8380612" cy="2967466"/>
          </a:xfrm>
          <a:prstGeom prst="rect">
            <a:avLst/>
          </a:prstGeom>
        </p:spPr>
        <p:txBody>
          <a:bodyPr anchor="t" rtlCol="false" tIns="0" lIns="0" bIns="0" rIns="0">
            <a:spAutoFit/>
          </a:bodyPr>
          <a:lstStyle/>
          <a:p>
            <a:pPr algn="l" marL="0" indent="0" lvl="0">
              <a:lnSpc>
                <a:spcPts val="5747"/>
              </a:lnSpc>
            </a:pPr>
            <a:r>
              <a:rPr lang="en-US" b="true" sz="6386" spc="-293">
                <a:solidFill>
                  <a:srgbClr val="00694C"/>
                </a:solidFill>
                <a:latin typeface="Raleway Medium"/>
                <a:ea typeface="Raleway Medium"/>
                <a:cs typeface="Raleway Medium"/>
                <a:sym typeface="Raleway Medium"/>
              </a:rPr>
              <a:t>Implementasi Algoritma Hierarchical Clustering Analysis dengan Pemrosesan Paralel</a:t>
            </a:r>
          </a:p>
        </p:txBody>
      </p:sp>
      <p:sp>
        <p:nvSpPr>
          <p:cNvPr name="TextBox 5" id="5"/>
          <p:cNvSpPr txBox="true"/>
          <p:nvPr/>
        </p:nvSpPr>
        <p:spPr>
          <a:xfrm rot="0">
            <a:off x="1219200" y="6671484"/>
            <a:ext cx="9179504" cy="603266"/>
          </a:xfrm>
          <a:prstGeom prst="rect">
            <a:avLst/>
          </a:prstGeom>
        </p:spPr>
        <p:txBody>
          <a:bodyPr anchor="t" rtlCol="false" tIns="0" lIns="0" bIns="0" rIns="0">
            <a:spAutoFit/>
          </a:bodyPr>
          <a:lstStyle/>
          <a:p>
            <a:pPr algn="l" marL="0" indent="0" lvl="0">
              <a:lnSpc>
                <a:spcPts val="4350"/>
              </a:lnSpc>
            </a:pPr>
            <a:r>
              <a:rPr lang="en-US" b="true" sz="4833" spc="-222">
                <a:solidFill>
                  <a:srgbClr val="00694C"/>
                </a:solidFill>
                <a:latin typeface="Raleway Medium"/>
                <a:ea typeface="Raleway Medium"/>
                <a:cs typeface="Raleway Medium"/>
                <a:sym typeface="Raleway Medium"/>
              </a:rPr>
              <a:t>Klasterisasi Data Penonton Bioskop</a:t>
            </a:r>
          </a:p>
        </p:txBody>
      </p:sp>
      <p:sp>
        <p:nvSpPr>
          <p:cNvPr name="TextBox 6" id="6"/>
          <p:cNvSpPr txBox="true"/>
          <p:nvPr/>
        </p:nvSpPr>
        <p:spPr>
          <a:xfrm rot="0">
            <a:off x="1219200" y="8915210"/>
            <a:ext cx="9179504" cy="286127"/>
          </a:xfrm>
          <a:prstGeom prst="rect">
            <a:avLst/>
          </a:prstGeom>
        </p:spPr>
        <p:txBody>
          <a:bodyPr anchor="t" rtlCol="false" tIns="0" lIns="0" bIns="0" rIns="0">
            <a:spAutoFit/>
          </a:bodyPr>
          <a:lstStyle/>
          <a:p>
            <a:pPr algn="l" marL="0" indent="0" lvl="0">
              <a:lnSpc>
                <a:spcPts val="2033"/>
              </a:lnSpc>
            </a:pPr>
            <a:r>
              <a:rPr lang="en-US" b="true" sz="2259" spc="-103">
                <a:solidFill>
                  <a:srgbClr val="00694C"/>
                </a:solidFill>
                <a:latin typeface="Raleway Medium"/>
                <a:ea typeface="Raleway Medium"/>
                <a:cs typeface="Raleway Medium"/>
                <a:sym typeface="Raleway Medium"/>
              </a:rPr>
              <a:t>Program Studi Teknik Informatika, Universitas Mataram  |  SENIFORMA 2026</a:t>
            </a:r>
          </a:p>
        </p:txBody>
      </p:sp>
      <p:sp>
        <p:nvSpPr>
          <p:cNvPr name="TextBox 7" id="7"/>
          <p:cNvSpPr txBox="true"/>
          <p:nvPr/>
        </p:nvSpPr>
        <p:spPr>
          <a:xfrm rot="0">
            <a:off x="1219200" y="1142813"/>
            <a:ext cx="9179504" cy="286127"/>
          </a:xfrm>
          <a:prstGeom prst="rect">
            <a:avLst/>
          </a:prstGeom>
        </p:spPr>
        <p:txBody>
          <a:bodyPr anchor="t" rtlCol="false" tIns="0" lIns="0" bIns="0" rIns="0">
            <a:spAutoFit/>
          </a:bodyPr>
          <a:lstStyle/>
          <a:p>
            <a:pPr algn="l" marL="0" indent="0" lvl="0">
              <a:lnSpc>
                <a:spcPts val="2033"/>
              </a:lnSpc>
            </a:pPr>
            <a:r>
              <a:rPr lang="en-US" b="true" sz="2259" spc="-103">
                <a:solidFill>
                  <a:srgbClr val="00694C"/>
                </a:solidFill>
                <a:latin typeface="Raleway Medium"/>
                <a:ea typeface="Raleway Medium"/>
                <a:cs typeface="Raleway Medium"/>
                <a:sym typeface="Raleway Medium"/>
              </a:rPr>
              <a:t>Ahmad Yadan Ulya Munaji, M. Ismail Cahyadi, Yoga Adiguna, ZAKY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9DFD0"/>
        </a:solidFill>
      </p:bgPr>
    </p:bg>
    <p:spTree>
      <p:nvGrpSpPr>
        <p:cNvPr id="1" name=""/>
        <p:cNvGrpSpPr/>
        <p:nvPr/>
      </p:nvGrpSpPr>
      <p:grpSpPr>
        <a:xfrm>
          <a:off x="0" y="0"/>
          <a:ext cx="0" cy="0"/>
          <a:chOff x="0" y="0"/>
          <a:chExt cx="0" cy="0"/>
        </a:xfrm>
      </p:grpSpPr>
      <p:sp>
        <p:nvSpPr>
          <p:cNvPr name="TextBox 2" id="2"/>
          <p:cNvSpPr txBox="true"/>
          <p:nvPr/>
        </p:nvSpPr>
        <p:spPr>
          <a:xfrm rot="0">
            <a:off x="1219200" y="3218229"/>
            <a:ext cx="7924800" cy="1249343"/>
          </a:xfrm>
          <a:prstGeom prst="rect">
            <a:avLst/>
          </a:prstGeom>
        </p:spPr>
        <p:txBody>
          <a:bodyPr anchor="t" rtlCol="false" tIns="0" lIns="0" bIns="0" rIns="0">
            <a:spAutoFit/>
          </a:bodyPr>
          <a:lstStyle/>
          <a:p>
            <a:pPr algn="l" marL="0" indent="0" lvl="0">
              <a:lnSpc>
                <a:spcPts val="9037"/>
              </a:lnSpc>
            </a:pPr>
            <a:r>
              <a:rPr lang="en-US" b="true" sz="10041" spc="-461">
                <a:solidFill>
                  <a:srgbClr val="00694C"/>
                </a:solidFill>
                <a:latin typeface="Raleway Medium"/>
                <a:ea typeface="Raleway Medium"/>
                <a:cs typeface="Raleway Medium"/>
                <a:sym typeface="Raleway Medium"/>
              </a:rPr>
              <a:t>Pendahuluan</a:t>
            </a:r>
          </a:p>
        </p:txBody>
      </p:sp>
      <p:sp>
        <p:nvSpPr>
          <p:cNvPr name="TextBox 3" id="3"/>
          <p:cNvSpPr txBox="true"/>
          <p:nvPr/>
        </p:nvSpPr>
        <p:spPr>
          <a:xfrm rot="0">
            <a:off x="1219200" y="5772102"/>
            <a:ext cx="7635008" cy="3135162"/>
          </a:xfrm>
          <a:prstGeom prst="rect">
            <a:avLst/>
          </a:prstGeom>
        </p:spPr>
        <p:txBody>
          <a:bodyPr anchor="t" rtlCol="false" tIns="0" lIns="0" bIns="0" rIns="0">
            <a:spAutoFit/>
          </a:bodyPr>
          <a:lstStyle/>
          <a:p>
            <a:pPr algn="l" marL="0" indent="0" lvl="0">
              <a:lnSpc>
                <a:spcPts val="2545"/>
              </a:lnSpc>
              <a:spcBef>
                <a:spcPct val="0"/>
              </a:spcBef>
            </a:pPr>
            <a:r>
              <a:rPr lang="en-US" b="true" sz="1818">
                <a:solidFill>
                  <a:srgbClr val="00694C"/>
                </a:solidFill>
                <a:latin typeface="Raleway Semi-Bold"/>
                <a:ea typeface="Raleway Semi-Bold"/>
                <a:cs typeface="Raleway Semi-Bold"/>
                <a:sym typeface="Raleway Semi-Bold"/>
              </a:rPr>
              <a:t>Industri perfilman berkembang pesat, menghasilkan data penonton yang besar dan beragam — mencakup usia, genre favorit, frekuensi kunjungan, dan waktu tayang.</a:t>
            </a:r>
          </a:p>
          <a:p>
            <a:pPr algn="l" marL="0" indent="0" lvl="0">
              <a:lnSpc>
                <a:spcPts val="2545"/>
              </a:lnSpc>
              <a:spcBef>
                <a:spcPct val="0"/>
              </a:spcBef>
            </a:pPr>
            <a:r>
              <a:rPr lang="en-US" b="true" sz="1818">
                <a:solidFill>
                  <a:srgbClr val="00694C"/>
                </a:solidFill>
                <a:latin typeface="Raleway Semi-Bold"/>
                <a:ea typeface="Raleway Semi-Bold"/>
                <a:cs typeface="Raleway Semi-Bold"/>
                <a:sym typeface="Raleway Semi-Bold"/>
              </a:rPr>
              <a:t>Masalah utama: volume data yang besar, keragaman karakteristik penonton, dan belum adanya segmentasi penonton yang terstruktur.</a:t>
            </a:r>
          </a:p>
          <a:p>
            <a:pPr algn="l" marL="0" indent="0" lvl="0">
              <a:lnSpc>
                <a:spcPts val="2545"/>
              </a:lnSpc>
              <a:spcBef>
                <a:spcPct val="0"/>
              </a:spcBef>
            </a:pPr>
            <a:r>
              <a:rPr lang="en-US" b="true" sz="1818">
                <a:solidFill>
                  <a:srgbClr val="00694C"/>
                </a:solidFill>
                <a:latin typeface="Raleway Semi-Bold"/>
                <a:ea typeface="Raleway Semi-Bold"/>
                <a:cs typeface="Raleway Semi-Bold"/>
                <a:sym typeface="Raleway Semi-Bold"/>
              </a:rPr>
              <a:t>Solusi: Hierarchical Clustering Analysis (HCA) mampu mengelompokkan data tanpa perlu menentukan jumlah klaster di awal — cocok untuk pola data yang kompleks.</a:t>
            </a:r>
          </a:p>
          <a:p>
            <a:pPr algn="l" marL="0" indent="0" lvl="0">
              <a:lnSpc>
                <a:spcPts val="2545"/>
              </a:lnSpc>
              <a:spcBef>
                <a:spcPct val="0"/>
              </a:spcBef>
            </a:pPr>
            <a:r>
              <a:rPr lang="en-US" b="true" sz="1818">
                <a:solidFill>
                  <a:srgbClr val="00694C"/>
                </a:solidFill>
                <a:latin typeface="Raleway Semi-Bold"/>
                <a:ea typeface="Raleway Semi-Bold"/>
                <a:cs typeface="Raleway Semi-Bold"/>
                <a:sym typeface="Raleway Semi-Bold"/>
              </a:rPr>
              <a:t>Tantangan: HCA memiliki kompleksitas komputasi tinggi pada dataset besar, sehingga diperlukan pemrosesan paralel untuk efisiensi.</a:t>
            </a:r>
          </a:p>
        </p:txBody>
      </p:sp>
      <p:sp>
        <p:nvSpPr>
          <p:cNvPr name="Freeform 4" id="4"/>
          <p:cNvSpPr/>
          <p:nvPr/>
        </p:nvSpPr>
        <p:spPr>
          <a:xfrm flipH="false" flipV="false" rot="0">
            <a:off x="9303589" y="1890245"/>
            <a:ext cx="8897251" cy="7229016"/>
          </a:xfrm>
          <a:custGeom>
            <a:avLst/>
            <a:gdLst/>
            <a:ahLst/>
            <a:cxnLst/>
            <a:rect r="r" b="b" t="t" l="l"/>
            <a:pathLst>
              <a:path h="7229016" w="8897251">
                <a:moveTo>
                  <a:pt x="0" y="0"/>
                </a:moveTo>
                <a:lnTo>
                  <a:pt x="8897250" y="0"/>
                </a:lnTo>
                <a:lnTo>
                  <a:pt x="8897250" y="7229017"/>
                </a:lnTo>
                <a:lnTo>
                  <a:pt x="0" y="7229017"/>
                </a:lnTo>
                <a:lnTo>
                  <a:pt x="0" y="0"/>
                </a:lnTo>
                <a:close/>
              </a:path>
            </a:pathLst>
          </a:custGeom>
          <a:blipFill>
            <a:blip r:embed="rId2"/>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grpSp>
        <p:nvGrpSpPr>
          <p:cNvPr name="Group 2" id="2"/>
          <p:cNvGrpSpPr/>
          <p:nvPr/>
        </p:nvGrpSpPr>
        <p:grpSpPr>
          <a:xfrm rot="0">
            <a:off x="6497251" y="4028229"/>
            <a:ext cx="5293498" cy="4944885"/>
            <a:chOff x="0" y="0"/>
            <a:chExt cx="1394172" cy="1302357"/>
          </a:xfrm>
        </p:grpSpPr>
        <p:sp>
          <p:nvSpPr>
            <p:cNvPr name="Freeform 3" id="3"/>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4" id="4"/>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2215665" y="1305059"/>
            <a:ext cx="13856669" cy="2392074"/>
          </a:xfrm>
          <a:prstGeom prst="rect">
            <a:avLst/>
          </a:prstGeom>
        </p:spPr>
        <p:txBody>
          <a:bodyPr anchor="t" rtlCol="false" tIns="0" lIns="0" bIns="0" rIns="0">
            <a:spAutoFit/>
          </a:bodyPr>
          <a:lstStyle/>
          <a:p>
            <a:pPr algn="ctr" marL="0" indent="0" lvl="0">
              <a:lnSpc>
                <a:spcPts val="9030"/>
              </a:lnSpc>
            </a:pPr>
            <a:r>
              <a:rPr lang="en-US" b="true" sz="10034" spc="-461">
                <a:solidFill>
                  <a:srgbClr val="00694C"/>
                </a:solidFill>
                <a:latin typeface="Raleway Medium"/>
                <a:ea typeface="Raleway Medium"/>
                <a:cs typeface="Raleway Medium"/>
                <a:sym typeface="Raleway Medium"/>
              </a:rPr>
              <a:t>Metodologi - Algoritma HCA Agglomerative</a:t>
            </a:r>
          </a:p>
        </p:txBody>
      </p:sp>
      <p:grpSp>
        <p:nvGrpSpPr>
          <p:cNvPr name="Group 6" id="6"/>
          <p:cNvGrpSpPr/>
          <p:nvPr/>
        </p:nvGrpSpPr>
        <p:grpSpPr>
          <a:xfrm rot="0">
            <a:off x="1028700" y="4028229"/>
            <a:ext cx="5293498" cy="4944885"/>
            <a:chOff x="0" y="0"/>
            <a:chExt cx="1394172" cy="1302357"/>
          </a:xfrm>
        </p:grpSpPr>
        <p:sp>
          <p:nvSpPr>
            <p:cNvPr name="Freeform 7" id="7"/>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8" id="8"/>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11965802" y="4028229"/>
            <a:ext cx="5293498" cy="4944885"/>
            <a:chOff x="0" y="0"/>
            <a:chExt cx="1394172" cy="1302357"/>
          </a:xfrm>
        </p:grpSpPr>
        <p:sp>
          <p:nvSpPr>
            <p:cNvPr name="Freeform 10" id="10"/>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11" id="11"/>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7933645" y="4490352"/>
            <a:ext cx="2420710" cy="1476055"/>
          </a:xfrm>
          <a:prstGeom prst="rect">
            <a:avLst/>
          </a:prstGeom>
        </p:spPr>
        <p:txBody>
          <a:bodyPr anchor="t" rtlCol="false" tIns="0" lIns="0" bIns="0" rIns="0">
            <a:spAutoFit/>
          </a:bodyPr>
          <a:lstStyle/>
          <a:p>
            <a:pPr algn="ctr" marL="0" indent="0" lvl="0">
              <a:lnSpc>
                <a:spcPts val="10792"/>
              </a:lnSpc>
            </a:pPr>
          </a:p>
        </p:txBody>
      </p:sp>
      <p:sp>
        <p:nvSpPr>
          <p:cNvPr name="TextBox 13" id="13"/>
          <p:cNvSpPr txBox="true"/>
          <p:nvPr/>
        </p:nvSpPr>
        <p:spPr>
          <a:xfrm rot="0">
            <a:off x="13402196" y="4490352"/>
            <a:ext cx="2420710" cy="1476055"/>
          </a:xfrm>
          <a:prstGeom prst="rect">
            <a:avLst/>
          </a:prstGeom>
        </p:spPr>
        <p:txBody>
          <a:bodyPr anchor="t" rtlCol="false" tIns="0" lIns="0" bIns="0" rIns="0">
            <a:spAutoFit/>
          </a:bodyPr>
          <a:lstStyle/>
          <a:p>
            <a:pPr algn="ctr" marL="0" indent="0" lvl="0">
              <a:lnSpc>
                <a:spcPts val="10792"/>
              </a:lnSpc>
            </a:pPr>
          </a:p>
        </p:txBody>
      </p:sp>
      <p:sp>
        <p:nvSpPr>
          <p:cNvPr name="TextBox 14" id="14"/>
          <p:cNvSpPr txBox="true"/>
          <p:nvPr/>
        </p:nvSpPr>
        <p:spPr>
          <a:xfrm rot="0">
            <a:off x="1630581" y="5009304"/>
            <a:ext cx="4095146" cy="2202212"/>
          </a:xfrm>
          <a:prstGeom prst="rect">
            <a:avLst/>
          </a:prstGeom>
        </p:spPr>
        <p:txBody>
          <a:bodyPr anchor="t" rtlCol="false" tIns="0" lIns="0" bIns="0" rIns="0">
            <a:spAutoFit/>
          </a:bodyPr>
          <a:lstStyle/>
          <a:p>
            <a:pPr algn="ctr">
              <a:lnSpc>
                <a:spcPts val="2518"/>
              </a:lnSpc>
            </a:pPr>
            <a:r>
              <a:rPr lang="en-US" sz="1798" b="true">
                <a:solidFill>
                  <a:srgbClr val="00694C"/>
                </a:solidFill>
                <a:latin typeface="Raleway Semi-Bold"/>
                <a:ea typeface="Raleway Semi-Bold"/>
                <a:cs typeface="Raleway Semi-Bold"/>
                <a:sym typeface="Raleway Semi-Bold"/>
              </a:rPr>
              <a:t>Inisialisasi &amp; Matriks Jarak</a:t>
            </a:r>
          </a:p>
          <a:p>
            <a:pPr algn="just" marL="388350" indent="-194175" lvl="1">
              <a:lnSpc>
                <a:spcPts val="2518"/>
              </a:lnSpc>
              <a:spcBef>
                <a:spcPct val="0"/>
              </a:spcBef>
              <a:buFont typeface="Arial"/>
              <a:buChar char="•"/>
            </a:pPr>
            <a:r>
              <a:rPr lang="en-US" b="true" sz="1798">
                <a:solidFill>
                  <a:srgbClr val="00694C"/>
                </a:solidFill>
                <a:latin typeface="Raleway Semi-Bold"/>
                <a:ea typeface="Raleway Semi-Bold"/>
                <a:cs typeface="Raleway Semi-Bold"/>
                <a:sym typeface="Raleway Semi-Bold"/>
              </a:rPr>
              <a:t>Setiap objek dianggap sebagai satu klaster awal (N klaster).</a:t>
            </a:r>
          </a:p>
          <a:p>
            <a:pPr algn="just" marL="388350" indent="-194175" lvl="1">
              <a:lnSpc>
                <a:spcPts val="2518"/>
              </a:lnSpc>
              <a:spcBef>
                <a:spcPct val="0"/>
              </a:spcBef>
              <a:buFont typeface="Arial"/>
              <a:buChar char="•"/>
            </a:pPr>
            <a:r>
              <a:rPr lang="en-US" b="true" sz="1798">
                <a:solidFill>
                  <a:srgbClr val="00694C"/>
                </a:solidFill>
                <a:latin typeface="Raleway Semi-Bold"/>
                <a:ea typeface="Raleway Semi-Bold"/>
                <a:cs typeface="Raleway Semi-Bold"/>
                <a:sym typeface="Raleway Semi-Bold"/>
              </a:rPr>
              <a:t>Matriks jarak dihitung menggunakan Euclidean Distance:</a:t>
            </a:r>
          </a:p>
          <a:p>
            <a:pPr algn="just" marL="0" indent="0" lvl="0">
              <a:lnSpc>
                <a:spcPts val="2518"/>
              </a:lnSpc>
              <a:spcBef>
                <a:spcPct val="0"/>
              </a:spcBef>
            </a:pPr>
          </a:p>
        </p:txBody>
      </p:sp>
      <p:sp>
        <p:nvSpPr>
          <p:cNvPr name="TextBox 15" id="15"/>
          <p:cNvSpPr txBox="true"/>
          <p:nvPr/>
        </p:nvSpPr>
        <p:spPr>
          <a:xfrm rot="0">
            <a:off x="7096427" y="5009304"/>
            <a:ext cx="4095146" cy="2202212"/>
          </a:xfrm>
          <a:prstGeom prst="rect">
            <a:avLst/>
          </a:prstGeom>
        </p:spPr>
        <p:txBody>
          <a:bodyPr anchor="t" rtlCol="false" tIns="0" lIns="0" bIns="0" rIns="0">
            <a:spAutoFit/>
          </a:bodyPr>
          <a:lstStyle/>
          <a:p>
            <a:pPr algn="ctr" marL="0" indent="0" lvl="0">
              <a:lnSpc>
                <a:spcPts val="2518"/>
              </a:lnSpc>
              <a:spcBef>
                <a:spcPct val="0"/>
              </a:spcBef>
            </a:pPr>
            <a:r>
              <a:rPr lang="en-US" b="true" sz="1798">
                <a:solidFill>
                  <a:srgbClr val="00694C"/>
                </a:solidFill>
                <a:latin typeface="Raleway Semi-Bold"/>
                <a:ea typeface="Raleway Semi-Bold"/>
                <a:cs typeface="Raleway Semi-Bold"/>
                <a:sym typeface="Raleway Semi-Bold"/>
              </a:rPr>
              <a:t>Cari Minimum &amp; Gabung Klaster</a:t>
            </a:r>
          </a:p>
          <a:p>
            <a:pPr algn="just" marL="388350" indent="-194175" lvl="1">
              <a:lnSpc>
                <a:spcPts val="2518"/>
              </a:lnSpc>
              <a:spcBef>
                <a:spcPct val="0"/>
              </a:spcBef>
              <a:buFont typeface="Arial"/>
              <a:buChar char="•"/>
            </a:pPr>
            <a:r>
              <a:rPr lang="en-US" b="true" sz="1798">
                <a:solidFill>
                  <a:srgbClr val="00694C"/>
                </a:solidFill>
                <a:latin typeface="Raleway Semi-Bold"/>
                <a:ea typeface="Raleway Semi-Bold"/>
                <a:cs typeface="Raleway Semi-Bold"/>
                <a:sym typeface="Raleway Semi-Bold"/>
              </a:rPr>
              <a:t>Mencari pasangan klaster dengan jarak minimum.</a:t>
            </a:r>
          </a:p>
          <a:p>
            <a:pPr algn="just" marL="388350" indent="-194175" lvl="1">
              <a:lnSpc>
                <a:spcPts val="2518"/>
              </a:lnSpc>
              <a:spcBef>
                <a:spcPct val="0"/>
              </a:spcBef>
              <a:buFont typeface="Arial"/>
              <a:buChar char="•"/>
            </a:pPr>
            <a:r>
              <a:rPr lang="en-US" b="true" sz="1798">
                <a:solidFill>
                  <a:srgbClr val="00694C"/>
                </a:solidFill>
                <a:latin typeface="Raleway Semi-Bold"/>
                <a:ea typeface="Raleway Semi-Bold"/>
                <a:cs typeface="Raleway Semi-Bold"/>
                <a:sym typeface="Raleway Semi-Bold"/>
              </a:rPr>
              <a:t>Menggabungkan dua klaster terdekat menggunakan metode Average Linkage:</a:t>
            </a:r>
          </a:p>
          <a:p>
            <a:pPr algn="just" marL="0" indent="0" lvl="0">
              <a:lnSpc>
                <a:spcPts val="2518"/>
              </a:lnSpc>
              <a:spcBef>
                <a:spcPct val="0"/>
              </a:spcBef>
            </a:pPr>
          </a:p>
        </p:txBody>
      </p:sp>
      <p:sp>
        <p:nvSpPr>
          <p:cNvPr name="TextBox 16" id="16"/>
          <p:cNvSpPr txBox="true"/>
          <p:nvPr/>
        </p:nvSpPr>
        <p:spPr>
          <a:xfrm rot="0">
            <a:off x="12562274" y="5009304"/>
            <a:ext cx="4095146" cy="1887887"/>
          </a:xfrm>
          <a:prstGeom prst="rect">
            <a:avLst/>
          </a:prstGeom>
        </p:spPr>
        <p:txBody>
          <a:bodyPr anchor="t" rtlCol="false" tIns="0" lIns="0" bIns="0" rIns="0">
            <a:spAutoFit/>
          </a:bodyPr>
          <a:lstStyle/>
          <a:p>
            <a:pPr algn="just" marL="0" indent="0" lvl="0">
              <a:lnSpc>
                <a:spcPts val="2518"/>
              </a:lnSpc>
              <a:spcBef>
                <a:spcPct val="0"/>
              </a:spcBef>
            </a:pPr>
            <a:r>
              <a:rPr lang="en-US" b="true" sz="1798">
                <a:solidFill>
                  <a:srgbClr val="00694C"/>
                </a:solidFill>
                <a:latin typeface="Raleway Semi-Bold"/>
                <a:ea typeface="Raleway Semi-Bold"/>
                <a:cs typeface="Raleway Semi-Bold"/>
                <a:sym typeface="Raleway Semi-Bold"/>
              </a:rPr>
              <a:t>Update &amp; Iterasi hingga 5 Klaster</a:t>
            </a:r>
          </a:p>
          <a:p>
            <a:pPr algn="just" marL="0" indent="0" lvl="0">
              <a:lnSpc>
                <a:spcPts val="2518"/>
              </a:lnSpc>
              <a:spcBef>
                <a:spcPct val="0"/>
              </a:spcBef>
            </a:pPr>
            <a:r>
              <a:rPr lang="en-US" b="true" sz="1798">
                <a:solidFill>
                  <a:srgbClr val="00694C"/>
                </a:solidFill>
                <a:latin typeface="Raleway Semi-Bold"/>
                <a:ea typeface="Raleway Semi-Bold"/>
                <a:cs typeface="Raleway Semi-Bold"/>
                <a:sym typeface="Raleway Semi-Bold"/>
              </a:rPr>
              <a:t>Perbarui matriks jarak menggunakan metode Average Linkage. Ulangi proses pencarian minimum dan penggabungan hingga jumlah klaster mencapai target 5 klaster.</a:t>
            </a:r>
          </a:p>
        </p:txBody>
      </p:sp>
      <p:pic>
        <p:nvPicPr>
          <p:cNvPr name="Picture 17" id="17"/>
          <p:cNvPicPr>
            <a:picLocks noChangeAspect="true"/>
          </p:cNvPicPr>
          <p:nvPr/>
        </p:nvPicPr>
        <p:blipFill>
          <a:blip r:embed="rId2"/>
          <a:stretch>
            <a:fillRect/>
          </a:stretch>
        </p:blipFill>
        <p:spPr>
          <a:xfrm rot="0">
            <a:off x="966266" y="6491948"/>
            <a:ext cx="5423774" cy="2427784"/>
          </a:xfrm>
          <a:prstGeom prst="rect">
            <a:avLst/>
          </a:prstGeom>
        </p:spPr>
      </p:pic>
      <p:pic>
        <p:nvPicPr>
          <p:cNvPr name="Picture 18" id="18"/>
          <p:cNvPicPr>
            <a:picLocks noChangeAspect="true"/>
          </p:cNvPicPr>
          <p:nvPr/>
        </p:nvPicPr>
        <p:blipFill>
          <a:blip r:embed="rId3"/>
          <a:stretch>
            <a:fillRect/>
          </a:stretch>
        </p:blipFill>
        <p:spPr>
          <a:xfrm rot="0">
            <a:off x="6155182" y="6713380"/>
            <a:ext cx="5977638" cy="1624989"/>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0B48C"/>
        </a:solidFill>
      </p:bgPr>
    </p:bg>
    <p:spTree>
      <p:nvGrpSpPr>
        <p:cNvPr id="1" name=""/>
        <p:cNvGrpSpPr/>
        <p:nvPr/>
      </p:nvGrpSpPr>
      <p:grpSpPr>
        <a:xfrm>
          <a:off x="0" y="0"/>
          <a:ext cx="0" cy="0"/>
          <a:chOff x="0" y="0"/>
          <a:chExt cx="0" cy="0"/>
        </a:xfrm>
      </p:grpSpPr>
      <p:sp>
        <p:nvSpPr>
          <p:cNvPr name="TextBox 2" id="2"/>
          <p:cNvSpPr txBox="true"/>
          <p:nvPr/>
        </p:nvSpPr>
        <p:spPr>
          <a:xfrm rot="0">
            <a:off x="1123950" y="1305059"/>
            <a:ext cx="16040100" cy="1249074"/>
          </a:xfrm>
          <a:prstGeom prst="rect">
            <a:avLst/>
          </a:prstGeom>
        </p:spPr>
        <p:txBody>
          <a:bodyPr anchor="t" rtlCol="false" tIns="0" lIns="0" bIns="0" rIns="0">
            <a:spAutoFit/>
          </a:bodyPr>
          <a:lstStyle/>
          <a:p>
            <a:pPr algn="ctr" marL="0" indent="0" lvl="0">
              <a:lnSpc>
                <a:spcPts val="9030"/>
              </a:lnSpc>
            </a:pPr>
            <a:r>
              <a:rPr lang="en-US" b="true" sz="10034" spc="-461">
                <a:solidFill>
                  <a:srgbClr val="FBF6F1"/>
                </a:solidFill>
                <a:latin typeface="Raleway Medium"/>
                <a:ea typeface="Raleway Medium"/>
                <a:cs typeface="Raleway Medium"/>
                <a:sym typeface="Raleway Medium"/>
              </a:rPr>
              <a:t>Rumus Matematis</a:t>
            </a:r>
          </a:p>
        </p:txBody>
      </p:sp>
      <p:grpSp>
        <p:nvGrpSpPr>
          <p:cNvPr name="Group 3" id="3"/>
          <p:cNvGrpSpPr/>
          <p:nvPr/>
        </p:nvGrpSpPr>
        <p:grpSpPr>
          <a:xfrm rot="0">
            <a:off x="9247395" y="2958361"/>
            <a:ext cx="6253164" cy="5841351"/>
            <a:chOff x="0" y="0"/>
            <a:chExt cx="1394172" cy="1302357"/>
          </a:xfrm>
        </p:grpSpPr>
        <p:sp>
          <p:nvSpPr>
            <p:cNvPr name="Freeform 4" id="4"/>
            <p:cNvSpPr/>
            <p:nvPr/>
          </p:nvSpPr>
          <p:spPr>
            <a:xfrm flipH="false" flipV="false" rot="0">
              <a:off x="0" y="0"/>
              <a:ext cx="1394172" cy="1302357"/>
            </a:xfrm>
            <a:custGeom>
              <a:avLst/>
              <a:gdLst/>
              <a:ahLst/>
              <a:cxnLst/>
              <a:rect r="r" b="b" t="t" l="l"/>
              <a:pathLst>
                <a:path h="1302357" w="1394172">
                  <a:moveTo>
                    <a:pt x="9905" y="0"/>
                  </a:moveTo>
                  <a:lnTo>
                    <a:pt x="1384268" y="0"/>
                  </a:lnTo>
                  <a:cubicBezTo>
                    <a:pt x="1386895" y="0"/>
                    <a:pt x="1389414" y="1044"/>
                    <a:pt x="1391271" y="2901"/>
                  </a:cubicBezTo>
                  <a:cubicBezTo>
                    <a:pt x="1393129" y="4758"/>
                    <a:pt x="1394172" y="7278"/>
                    <a:pt x="1394172" y="9905"/>
                  </a:cubicBezTo>
                  <a:lnTo>
                    <a:pt x="1394172" y="1292452"/>
                  </a:lnTo>
                  <a:cubicBezTo>
                    <a:pt x="1394172" y="1295079"/>
                    <a:pt x="1393129" y="1297598"/>
                    <a:pt x="1391271" y="1299456"/>
                  </a:cubicBezTo>
                  <a:cubicBezTo>
                    <a:pt x="1389414" y="1301313"/>
                    <a:pt x="1386895" y="1302357"/>
                    <a:pt x="1384268" y="1302357"/>
                  </a:cubicBezTo>
                  <a:lnTo>
                    <a:pt x="9905" y="1302357"/>
                  </a:lnTo>
                  <a:cubicBezTo>
                    <a:pt x="7278" y="1302357"/>
                    <a:pt x="4758" y="1301313"/>
                    <a:pt x="2901" y="1299456"/>
                  </a:cubicBezTo>
                  <a:cubicBezTo>
                    <a:pt x="1044" y="1297598"/>
                    <a:pt x="0" y="1295079"/>
                    <a:pt x="0" y="1292452"/>
                  </a:cubicBezTo>
                  <a:lnTo>
                    <a:pt x="0" y="9905"/>
                  </a:lnTo>
                  <a:cubicBezTo>
                    <a:pt x="0" y="7278"/>
                    <a:pt x="1044" y="4758"/>
                    <a:pt x="2901" y="2901"/>
                  </a:cubicBezTo>
                  <a:cubicBezTo>
                    <a:pt x="4758" y="1044"/>
                    <a:pt x="7278" y="0"/>
                    <a:pt x="9905" y="0"/>
                  </a:cubicBezTo>
                  <a:close/>
                </a:path>
              </a:pathLst>
            </a:custGeom>
            <a:solidFill>
              <a:srgbClr val="A9DFD0"/>
            </a:solidFill>
          </p:spPr>
        </p:sp>
        <p:sp>
          <p:nvSpPr>
            <p:cNvPr name="TextBox 5" id="5"/>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2787441" y="2958361"/>
            <a:ext cx="6253164" cy="5841351"/>
            <a:chOff x="0" y="0"/>
            <a:chExt cx="1394172" cy="1302357"/>
          </a:xfrm>
        </p:grpSpPr>
        <p:sp>
          <p:nvSpPr>
            <p:cNvPr name="Freeform 7" id="7"/>
            <p:cNvSpPr/>
            <p:nvPr/>
          </p:nvSpPr>
          <p:spPr>
            <a:xfrm flipH="false" flipV="false" rot="0">
              <a:off x="0" y="0"/>
              <a:ext cx="1394172" cy="1302357"/>
            </a:xfrm>
            <a:custGeom>
              <a:avLst/>
              <a:gdLst/>
              <a:ahLst/>
              <a:cxnLst/>
              <a:rect r="r" b="b" t="t" l="l"/>
              <a:pathLst>
                <a:path h="1302357" w="1394172">
                  <a:moveTo>
                    <a:pt x="9905" y="0"/>
                  </a:moveTo>
                  <a:lnTo>
                    <a:pt x="1384268" y="0"/>
                  </a:lnTo>
                  <a:cubicBezTo>
                    <a:pt x="1386895" y="0"/>
                    <a:pt x="1389414" y="1044"/>
                    <a:pt x="1391271" y="2901"/>
                  </a:cubicBezTo>
                  <a:cubicBezTo>
                    <a:pt x="1393129" y="4758"/>
                    <a:pt x="1394172" y="7278"/>
                    <a:pt x="1394172" y="9905"/>
                  </a:cubicBezTo>
                  <a:lnTo>
                    <a:pt x="1394172" y="1292452"/>
                  </a:lnTo>
                  <a:cubicBezTo>
                    <a:pt x="1394172" y="1295079"/>
                    <a:pt x="1393129" y="1297598"/>
                    <a:pt x="1391271" y="1299456"/>
                  </a:cubicBezTo>
                  <a:cubicBezTo>
                    <a:pt x="1389414" y="1301313"/>
                    <a:pt x="1386895" y="1302357"/>
                    <a:pt x="1384268" y="1302357"/>
                  </a:cubicBezTo>
                  <a:lnTo>
                    <a:pt x="9905" y="1302357"/>
                  </a:lnTo>
                  <a:cubicBezTo>
                    <a:pt x="7278" y="1302357"/>
                    <a:pt x="4758" y="1301313"/>
                    <a:pt x="2901" y="1299456"/>
                  </a:cubicBezTo>
                  <a:cubicBezTo>
                    <a:pt x="1044" y="1297598"/>
                    <a:pt x="0" y="1295079"/>
                    <a:pt x="0" y="1292452"/>
                  </a:cubicBezTo>
                  <a:lnTo>
                    <a:pt x="0" y="9905"/>
                  </a:lnTo>
                  <a:cubicBezTo>
                    <a:pt x="0" y="7278"/>
                    <a:pt x="1044" y="4758"/>
                    <a:pt x="2901" y="2901"/>
                  </a:cubicBezTo>
                  <a:cubicBezTo>
                    <a:pt x="4758" y="1044"/>
                    <a:pt x="7278" y="0"/>
                    <a:pt x="9905" y="0"/>
                  </a:cubicBezTo>
                  <a:close/>
                </a:path>
              </a:pathLst>
            </a:custGeom>
            <a:solidFill>
              <a:srgbClr val="A9DFD0"/>
            </a:solidFill>
          </p:spPr>
        </p:sp>
        <p:sp>
          <p:nvSpPr>
            <p:cNvPr name="TextBox 8" id="8"/>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3729401" y="3112553"/>
            <a:ext cx="4369245" cy="1304778"/>
          </a:xfrm>
          <a:prstGeom prst="rect">
            <a:avLst/>
          </a:prstGeom>
        </p:spPr>
        <p:txBody>
          <a:bodyPr anchor="t" rtlCol="false" tIns="0" lIns="0" bIns="0" rIns="0">
            <a:spAutoFit/>
          </a:bodyPr>
          <a:lstStyle/>
          <a:p>
            <a:pPr algn="ctr" marL="0" indent="0" lvl="0">
              <a:lnSpc>
                <a:spcPts val="4946"/>
              </a:lnSpc>
            </a:pPr>
            <a:r>
              <a:rPr lang="en-US" b="true" sz="5496" spc="-252">
                <a:solidFill>
                  <a:srgbClr val="00694C"/>
                </a:solidFill>
                <a:latin typeface="Raleway Medium"/>
                <a:ea typeface="Raleway Medium"/>
                <a:cs typeface="Raleway Medium"/>
                <a:sym typeface="Raleway Medium"/>
              </a:rPr>
              <a:t>Euclidean Distance</a:t>
            </a:r>
          </a:p>
        </p:txBody>
      </p:sp>
      <p:sp>
        <p:nvSpPr>
          <p:cNvPr name="TextBox 10" id="10"/>
          <p:cNvSpPr txBox="true"/>
          <p:nvPr/>
        </p:nvSpPr>
        <p:spPr>
          <a:xfrm rot="0">
            <a:off x="10357872" y="3112553"/>
            <a:ext cx="4032209" cy="1304778"/>
          </a:xfrm>
          <a:prstGeom prst="rect">
            <a:avLst/>
          </a:prstGeom>
        </p:spPr>
        <p:txBody>
          <a:bodyPr anchor="t" rtlCol="false" tIns="0" lIns="0" bIns="0" rIns="0">
            <a:spAutoFit/>
          </a:bodyPr>
          <a:lstStyle/>
          <a:p>
            <a:pPr algn="ctr" marL="0" indent="0" lvl="0">
              <a:lnSpc>
                <a:spcPts val="4946"/>
              </a:lnSpc>
            </a:pPr>
            <a:r>
              <a:rPr lang="en-US" b="true" sz="5496" spc="-252">
                <a:solidFill>
                  <a:srgbClr val="00694C"/>
                </a:solidFill>
                <a:latin typeface="Raleway Medium"/>
                <a:ea typeface="Raleway Medium"/>
                <a:cs typeface="Raleway Medium"/>
                <a:sym typeface="Raleway Medium"/>
              </a:rPr>
              <a:t>Average Linkage</a:t>
            </a:r>
          </a:p>
        </p:txBody>
      </p:sp>
      <p:sp>
        <p:nvSpPr>
          <p:cNvPr name="TextBox 11" id="11"/>
          <p:cNvSpPr txBox="true"/>
          <p:nvPr/>
        </p:nvSpPr>
        <p:spPr>
          <a:xfrm rot="0">
            <a:off x="3495243" y="6236533"/>
            <a:ext cx="4837561" cy="2155979"/>
          </a:xfrm>
          <a:prstGeom prst="rect">
            <a:avLst/>
          </a:prstGeom>
        </p:spPr>
        <p:txBody>
          <a:bodyPr anchor="t" rtlCol="false" tIns="0" lIns="0" bIns="0" rIns="0">
            <a:spAutoFit/>
          </a:bodyPr>
          <a:lstStyle/>
          <a:p>
            <a:pPr algn="just" marL="0" indent="0" lvl="0">
              <a:lnSpc>
                <a:spcPts val="2865"/>
              </a:lnSpc>
              <a:spcBef>
                <a:spcPct val="0"/>
              </a:spcBef>
            </a:pPr>
            <a:r>
              <a:rPr lang="en-US" b="true" sz="2046">
                <a:solidFill>
                  <a:srgbClr val="00694C"/>
                </a:solidFill>
                <a:latin typeface="Raleway Semi-Bold"/>
                <a:ea typeface="Raleway Semi-Bold"/>
                <a:cs typeface="Raleway Semi-Bold"/>
                <a:sym typeface="Raleway Semi-Bold"/>
              </a:rPr>
              <a:t>Digunakan untuk menghitung jarak antar dua titik data dalam ruang berdimensi-n. Setiap fitur dikurangi, dikuadratkan, dijumlahkan, lalu diakar. Semakin kecil nilai d, semakin mirip dua penonton.</a:t>
            </a:r>
          </a:p>
        </p:txBody>
      </p:sp>
      <p:sp>
        <p:nvSpPr>
          <p:cNvPr name="TextBox 12" id="12"/>
          <p:cNvSpPr txBox="true"/>
          <p:nvPr/>
        </p:nvSpPr>
        <p:spPr>
          <a:xfrm rot="0">
            <a:off x="9955196" y="6236533"/>
            <a:ext cx="4837561" cy="1795921"/>
          </a:xfrm>
          <a:prstGeom prst="rect">
            <a:avLst/>
          </a:prstGeom>
        </p:spPr>
        <p:txBody>
          <a:bodyPr anchor="t" rtlCol="false" tIns="0" lIns="0" bIns="0" rIns="0">
            <a:spAutoFit/>
          </a:bodyPr>
          <a:lstStyle/>
          <a:p>
            <a:pPr algn="just" marL="0" indent="0" lvl="0">
              <a:lnSpc>
                <a:spcPts val="2865"/>
              </a:lnSpc>
              <a:spcBef>
                <a:spcPct val="0"/>
              </a:spcBef>
            </a:pPr>
            <a:r>
              <a:rPr lang="en-US" b="true" sz="2046">
                <a:solidFill>
                  <a:srgbClr val="00694C"/>
                </a:solidFill>
                <a:latin typeface="Raleway Semi-Bold"/>
                <a:ea typeface="Raleway Semi-Bold"/>
                <a:cs typeface="Raleway Semi-Bold"/>
                <a:sym typeface="Raleway Semi-Bold"/>
              </a:rPr>
              <a:t>Digunakan untuk memperbarui matriks jarak setelah dua klaster A dan B digabung. Jarak klaster baru ke klaster C dihitung sebagai rata-rata tertimbang berdasarkan ukuran klaster.</a:t>
            </a:r>
          </a:p>
        </p:txBody>
      </p:sp>
      <p:pic>
        <p:nvPicPr>
          <p:cNvPr name="Picture 13" id="13"/>
          <p:cNvPicPr>
            <a:picLocks noChangeAspect="true"/>
          </p:cNvPicPr>
          <p:nvPr/>
        </p:nvPicPr>
        <p:blipFill>
          <a:blip r:embed="rId2"/>
          <a:stretch>
            <a:fillRect/>
          </a:stretch>
        </p:blipFill>
        <p:spPr>
          <a:xfrm rot="0">
            <a:off x="3202136" y="3965350"/>
            <a:ext cx="5423774" cy="2427784"/>
          </a:xfrm>
          <a:prstGeom prst="rect">
            <a:avLst/>
          </a:prstGeom>
        </p:spPr>
      </p:pic>
      <p:pic>
        <p:nvPicPr>
          <p:cNvPr name="Picture 14" id="14"/>
          <p:cNvPicPr>
            <a:picLocks noChangeAspect="true"/>
          </p:cNvPicPr>
          <p:nvPr/>
        </p:nvPicPr>
        <p:blipFill>
          <a:blip r:embed="rId3"/>
          <a:stretch>
            <a:fillRect/>
          </a:stretch>
        </p:blipFill>
        <p:spPr>
          <a:xfrm rot="0">
            <a:off x="9457060" y="4331006"/>
            <a:ext cx="5977638" cy="1624989"/>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9DFD0"/>
        </a:solidFill>
      </p:bgPr>
    </p:bg>
    <p:spTree>
      <p:nvGrpSpPr>
        <p:cNvPr id="1" name=""/>
        <p:cNvGrpSpPr/>
        <p:nvPr/>
      </p:nvGrpSpPr>
      <p:grpSpPr>
        <a:xfrm>
          <a:off x="0" y="0"/>
          <a:ext cx="0" cy="0"/>
          <a:chOff x="0" y="0"/>
          <a:chExt cx="0" cy="0"/>
        </a:xfrm>
      </p:grpSpPr>
      <p:sp>
        <p:nvSpPr>
          <p:cNvPr name="Freeform 2" id="2"/>
          <p:cNvSpPr/>
          <p:nvPr/>
        </p:nvSpPr>
        <p:spPr>
          <a:xfrm flipH="false" flipV="false" rot="0">
            <a:off x="9714725" y="2319378"/>
            <a:ext cx="8573275" cy="7561938"/>
          </a:xfrm>
          <a:custGeom>
            <a:avLst/>
            <a:gdLst/>
            <a:ahLst/>
            <a:cxnLst/>
            <a:rect r="r" b="b" t="t" l="l"/>
            <a:pathLst>
              <a:path h="7561938" w="8573275">
                <a:moveTo>
                  <a:pt x="0" y="0"/>
                </a:moveTo>
                <a:lnTo>
                  <a:pt x="8573275" y="0"/>
                </a:lnTo>
                <a:lnTo>
                  <a:pt x="8573275" y="7561938"/>
                </a:lnTo>
                <a:lnTo>
                  <a:pt x="0" y="7561938"/>
                </a:lnTo>
                <a:lnTo>
                  <a:pt x="0" y="0"/>
                </a:lnTo>
                <a:close/>
              </a:path>
            </a:pathLst>
          </a:custGeom>
          <a:blipFill>
            <a:blip r:embed="rId2"/>
            <a:stretch>
              <a:fillRect l="-2314" t="-370" r="0" b="-1158"/>
            </a:stretch>
          </a:blipFill>
        </p:spPr>
      </p:sp>
      <p:sp>
        <p:nvSpPr>
          <p:cNvPr name="TextBox 3" id="3"/>
          <p:cNvSpPr txBox="true"/>
          <p:nvPr/>
        </p:nvSpPr>
        <p:spPr>
          <a:xfrm rot="0">
            <a:off x="393428" y="276225"/>
            <a:ext cx="10181106" cy="2392343"/>
          </a:xfrm>
          <a:prstGeom prst="rect">
            <a:avLst/>
          </a:prstGeom>
        </p:spPr>
        <p:txBody>
          <a:bodyPr anchor="t" rtlCol="false" tIns="0" lIns="0" bIns="0" rIns="0">
            <a:spAutoFit/>
          </a:bodyPr>
          <a:lstStyle/>
          <a:p>
            <a:pPr algn="l" marL="0" indent="0" lvl="0">
              <a:lnSpc>
                <a:spcPts val="9037"/>
              </a:lnSpc>
            </a:pPr>
            <a:r>
              <a:rPr lang="en-US" b="true" sz="10041" spc="-461">
                <a:solidFill>
                  <a:srgbClr val="00694C"/>
                </a:solidFill>
                <a:latin typeface="Raleway Medium"/>
                <a:ea typeface="Raleway Medium"/>
                <a:cs typeface="Raleway Medium"/>
                <a:sym typeface="Raleway Medium"/>
              </a:rPr>
              <a:t>A</a:t>
            </a:r>
            <a:r>
              <a:rPr lang="en-US" b="true" sz="10041" spc="-461">
                <a:solidFill>
                  <a:srgbClr val="00694C"/>
                </a:solidFill>
                <a:latin typeface="Raleway Medium"/>
                <a:ea typeface="Raleway Medium"/>
                <a:cs typeface="Raleway Medium"/>
                <a:sym typeface="Raleway Medium"/>
              </a:rPr>
              <a:t>lgoritma HCA secara umum</a:t>
            </a:r>
          </a:p>
        </p:txBody>
      </p:sp>
      <p:sp>
        <p:nvSpPr>
          <p:cNvPr name="TextBox 4" id="4"/>
          <p:cNvSpPr txBox="true"/>
          <p:nvPr/>
        </p:nvSpPr>
        <p:spPr>
          <a:xfrm rot="0">
            <a:off x="210737" y="2630468"/>
            <a:ext cx="9315963" cy="6483166"/>
          </a:xfrm>
          <a:prstGeom prst="rect">
            <a:avLst/>
          </a:prstGeom>
        </p:spPr>
        <p:txBody>
          <a:bodyPr anchor="t" rtlCol="false" tIns="0" lIns="0" bIns="0" rIns="0">
            <a:spAutoFit/>
          </a:bodyPr>
          <a:lstStyle/>
          <a:p>
            <a:pPr algn="just" marL="0" indent="0" lvl="0">
              <a:lnSpc>
                <a:spcPts val="2392"/>
              </a:lnSpc>
              <a:spcBef>
                <a:spcPct val="0"/>
              </a:spcBef>
            </a:pPr>
            <a:r>
              <a:rPr lang="en-US" b="true" sz="1708">
                <a:solidFill>
                  <a:srgbClr val="00694C"/>
                </a:solidFill>
                <a:latin typeface="Raleway Semi-Bold"/>
                <a:ea typeface="Raleway Semi-Bold"/>
                <a:cs typeface="Raleway Semi-Bold"/>
                <a:sym typeface="Raleway Semi-Bold"/>
              </a:rPr>
              <a:t>Algoritma Hierarch</a:t>
            </a:r>
            <a:r>
              <a:rPr lang="en-US" b="true" sz="1708">
                <a:solidFill>
                  <a:srgbClr val="00694C"/>
                </a:solidFill>
                <a:latin typeface="Raleway Semi-Bold"/>
                <a:ea typeface="Raleway Semi-Bold"/>
                <a:cs typeface="Raleway Semi-Bold"/>
                <a:sym typeface="Raleway Semi-Bold"/>
              </a:rPr>
              <a:t>ical Clustering Analysis (HCA) jenis agglomerative secara umum bekerja dengan prinsip bottom-up. Alur kerja konseptual dari algoritma ini dilakukan melalui tahapan-tahapan sebagai berikut: </a:t>
            </a:r>
          </a:p>
          <a:p>
            <a:pPr algn="just" marL="0" indent="0" lvl="0">
              <a:lnSpc>
                <a:spcPts val="2392"/>
              </a:lnSpc>
              <a:spcBef>
                <a:spcPct val="0"/>
              </a:spcBef>
            </a:pPr>
            <a:r>
              <a:rPr lang="en-US" b="true" sz="1708">
                <a:solidFill>
                  <a:srgbClr val="00694C"/>
                </a:solidFill>
                <a:latin typeface="Raleway Semi-Bold"/>
                <a:ea typeface="Raleway Semi-Bold"/>
                <a:cs typeface="Raleway Semi-Bold"/>
                <a:sym typeface="Raleway Semi-Bold"/>
              </a:rPr>
              <a:t>1.Inisialisasi Klaster: Setiap objek tunggal di dalam dataset mula-mula dianggap sebagai satu klaster mandiri yang terpisah dan unik. Jika terdapat N buah data, maka pada tahap awal akan terbentuk N buah klaster aktif. </a:t>
            </a:r>
          </a:p>
          <a:p>
            <a:pPr algn="just" marL="0" indent="0" lvl="0">
              <a:lnSpc>
                <a:spcPts val="2392"/>
              </a:lnSpc>
              <a:spcBef>
                <a:spcPct val="0"/>
              </a:spcBef>
            </a:pPr>
            <a:r>
              <a:rPr lang="en-US" b="true" sz="1708">
                <a:solidFill>
                  <a:srgbClr val="00694C"/>
                </a:solidFill>
                <a:latin typeface="Raleway Semi-Bold"/>
                <a:ea typeface="Raleway Semi-Bold"/>
                <a:cs typeface="Raleway Semi-Bold"/>
                <a:sym typeface="Raleway Semi-Bold"/>
              </a:rPr>
              <a:t>2.Perhitungan Matriks Jarak: Menghitung jarak kedekatan antar-seluruh pasangan objek data menggunakan matrik jarak tertentu (seperti Euclidean distance) untuk membentuk sebuah matriks jarak awal berukuran N x N. </a:t>
            </a:r>
          </a:p>
          <a:p>
            <a:pPr algn="just" marL="0" indent="0" lvl="0">
              <a:lnSpc>
                <a:spcPts val="2392"/>
              </a:lnSpc>
              <a:spcBef>
                <a:spcPct val="0"/>
              </a:spcBef>
            </a:pPr>
            <a:r>
              <a:rPr lang="en-US" b="true" sz="1708">
                <a:solidFill>
                  <a:srgbClr val="00694C"/>
                </a:solidFill>
                <a:latin typeface="Raleway Semi-Bold"/>
                <a:ea typeface="Raleway Semi-Bold"/>
                <a:cs typeface="Raleway Semi-Bold"/>
                <a:sym typeface="Raleway Semi-Bold"/>
              </a:rPr>
              <a:t>3.Pencarian Jarak Minimum: Memindai seluruh isi matriks jarak untuk menemukan pasangan klaster aktif yang memiliki nilai jarak paling minimum atau memiliki tingkat kemiripan tertinggi. </a:t>
            </a:r>
          </a:p>
          <a:p>
            <a:pPr algn="just" marL="0" indent="0" lvl="0">
              <a:lnSpc>
                <a:spcPts val="2392"/>
              </a:lnSpc>
              <a:spcBef>
                <a:spcPct val="0"/>
              </a:spcBef>
            </a:pPr>
            <a:r>
              <a:rPr lang="en-US" b="true" sz="1708">
                <a:solidFill>
                  <a:srgbClr val="00694C"/>
                </a:solidFill>
                <a:latin typeface="Raleway Semi-Bold"/>
                <a:ea typeface="Raleway Semi-Bold"/>
                <a:cs typeface="Raleway Semi-Bold"/>
                <a:sym typeface="Raleway Semi-Bold"/>
              </a:rPr>
              <a:t>4.Penggabungan Klaster (Merging): Menggabungkan dua klaster terdekat yang telah ditemukan menjadi satu kelompok atau klaster baru. Proses ini mengakibatkan jumlah total klaster aktif di dalam sistem akan berkurang satu. </a:t>
            </a:r>
          </a:p>
          <a:p>
            <a:pPr algn="just" marL="0" indent="0" lvl="0">
              <a:lnSpc>
                <a:spcPts val="2392"/>
              </a:lnSpc>
              <a:spcBef>
                <a:spcPct val="0"/>
              </a:spcBef>
            </a:pPr>
            <a:r>
              <a:rPr lang="en-US" b="true" sz="1708">
                <a:solidFill>
                  <a:srgbClr val="00694C"/>
                </a:solidFill>
                <a:latin typeface="Raleway Semi-Bold"/>
                <a:ea typeface="Raleway Semi-Bold"/>
                <a:cs typeface="Raleway Semi-Bold"/>
                <a:sym typeface="Raleway Semi-Bold"/>
              </a:rPr>
              <a:t>5.Pembaruan Matriks Jarak: Menghitung kembali nilai jarak dari klaster baru yang terbentuk terhadap klaster-klaster lain yang masih aktif menggunakan metode tautan (linkage). Baris dan kolom milik klaster lama yang sudah bergabung akan dinonaktifkan. </a:t>
            </a:r>
          </a:p>
          <a:p>
            <a:pPr algn="just" marL="0" indent="0" lvl="0">
              <a:lnSpc>
                <a:spcPts val="2392"/>
              </a:lnSpc>
              <a:spcBef>
                <a:spcPct val="0"/>
              </a:spcBef>
            </a:pPr>
            <a:r>
              <a:rPr lang="en-US" b="true" sz="1708">
                <a:solidFill>
                  <a:srgbClr val="00694C"/>
                </a:solidFill>
                <a:latin typeface="Raleway Semi-Bold"/>
                <a:ea typeface="Raleway Semi-Bold"/>
                <a:cs typeface="Raleway Semi-Bold"/>
                <a:sym typeface="Raleway Semi-Bold"/>
              </a:rPr>
              <a:t>Kondisi Berhenti: Seluruh siklus pencarian jarak minimum, penggabungan, dan pembaruan matriks jarak di atas diulangi secara terus-menerus hingga semua objek data menyatu menjadi satu klaster besar tunggal, atau proses dihentikan saat jumlah kelompok telah mencapai target jumlah klaster yang diinginkan oleh pengguna</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BF6F1"/>
        </a:solidFill>
      </p:bgPr>
    </p:bg>
    <p:spTree>
      <p:nvGrpSpPr>
        <p:cNvPr id="1" name=""/>
        <p:cNvGrpSpPr/>
        <p:nvPr/>
      </p:nvGrpSpPr>
      <p:grpSpPr>
        <a:xfrm>
          <a:off x="0" y="0"/>
          <a:ext cx="0" cy="0"/>
          <a:chOff x="0" y="0"/>
          <a:chExt cx="0" cy="0"/>
        </a:xfrm>
      </p:grpSpPr>
      <p:grpSp>
        <p:nvGrpSpPr>
          <p:cNvPr name="Group 2" id="2"/>
          <p:cNvGrpSpPr/>
          <p:nvPr/>
        </p:nvGrpSpPr>
        <p:grpSpPr>
          <a:xfrm rot="0">
            <a:off x="6497251" y="4028229"/>
            <a:ext cx="5293498" cy="4944885"/>
            <a:chOff x="0" y="0"/>
            <a:chExt cx="1394172" cy="1302357"/>
          </a:xfrm>
        </p:grpSpPr>
        <p:sp>
          <p:nvSpPr>
            <p:cNvPr name="Freeform 3" id="3"/>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4" id="4"/>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2215665" y="1305059"/>
            <a:ext cx="13856669" cy="2392074"/>
          </a:xfrm>
          <a:prstGeom prst="rect">
            <a:avLst/>
          </a:prstGeom>
        </p:spPr>
        <p:txBody>
          <a:bodyPr anchor="t" rtlCol="false" tIns="0" lIns="0" bIns="0" rIns="0">
            <a:spAutoFit/>
          </a:bodyPr>
          <a:lstStyle/>
          <a:p>
            <a:pPr algn="ctr" marL="0" indent="0" lvl="0">
              <a:lnSpc>
                <a:spcPts val="9030"/>
              </a:lnSpc>
            </a:pPr>
            <a:r>
              <a:rPr lang="en-US" b="true" sz="10034" spc="-461">
                <a:solidFill>
                  <a:srgbClr val="00694C"/>
                </a:solidFill>
                <a:latin typeface="Raleway Medium"/>
                <a:ea typeface="Raleway Medium"/>
                <a:cs typeface="Raleway Medium"/>
                <a:sym typeface="Raleway Medium"/>
              </a:rPr>
              <a:t>Data dan Skenario Pengujian</a:t>
            </a:r>
          </a:p>
        </p:txBody>
      </p:sp>
      <p:grpSp>
        <p:nvGrpSpPr>
          <p:cNvPr name="Group 6" id="6"/>
          <p:cNvGrpSpPr/>
          <p:nvPr/>
        </p:nvGrpSpPr>
        <p:grpSpPr>
          <a:xfrm rot="0">
            <a:off x="1028700" y="4028229"/>
            <a:ext cx="5293498" cy="4944885"/>
            <a:chOff x="0" y="0"/>
            <a:chExt cx="1394172" cy="1302357"/>
          </a:xfrm>
        </p:grpSpPr>
        <p:sp>
          <p:nvSpPr>
            <p:cNvPr name="Freeform 7" id="7"/>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8" id="8"/>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11965802" y="4028229"/>
            <a:ext cx="5293498" cy="4944885"/>
            <a:chOff x="0" y="0"/>
            <a:chExt cx="1394172" cy="1302357"/>
          </a:xfrm>
        </p:grpSpPr>
        <p:sp>
          <p:nvSpPr>
            <p:cNvPr name="Freeform 10" id="10"/>
            <p:cNvSpPr/>
            <p:nvPr/>
          </p:nvSpPr>
          <p:spPr>
            <a:xfrm flipH="false" flipV="false" rot="0">
              <a:off x="0" y="0"/>
              <a:ext cx="1394172" cy="1302357"/>
            </a:xfrm>
            <a:custGeom>
              <a:avLst/>
              <a:gdLst/>
              <a:ahLst/>
              <a:cxnLst/>
              <a:rect r="r" b="b" t="t" l="l"/>
              <a:pathLst>
                <a:path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A9DFD0"/>
            </a:solidFill>
          </p:spPr>
        </p:sp>
        <p:sp>
          <p:nvSpPr>
            <p:cNvPr name="TextBox 11" id="11"/>
            <p:cNvSpPr txBox="true"/>
            <p:nvPr/>
          </p:nvSpPr>
          <p:spPr>
            <a:xfrm>
              <a:off x="0" y="-38100"/>
              <a:ext cx="1394172" cy="13404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2465094" y="4490352"/>
            <a:ext cx="2420710" cy="1476055"/>
          </a:xfrm>
          <a:prstGeom prst="rect">
            <a:avLst/>
          </a:prstGeom>
        </p:spPr>
        <p:txBody>
          <a:bodyPr anchor="t" rtlCol="false" tIns="0" lIns="0" bIns="0" rIns="0">
            <a:spAutoFit/>
          </a:bodyPr>
          <a:lstStyle/>
          <a:p>
            <a:pPr algn="ctr" marL="0" indent="0" lvl="0">
              <a:lnSpc>
                <a:spcPts val="10792"/>
              </a:lnSpc>
            </a:pPr>
          </a:p>
        </p:txBody>
      </p:sp>
      <p:sp>
        <p:nvSpPr>
          <p:cNvPr name="TextBox 13" id="13"/>
          <p:cNvSpPr txBox="true"/>
          <p:nvPr/>
        </p:nvSpPr>
        <p:spPr>
          <a:xfrm rot="0">
            <a:off x="7933645" y="4490352"/>
            <a:ext cx="2420710" cy="1476055"/>
          </a:xfrm>
          <a:prstGeom prst="rect">
            <a:avLst/>
          </a:prstGeom>
        </p:spPr>
        <p:txBody>
          <a:bodyPr anchor="t" rtlCol="false" tIns="0" lIns="0" bIns="0" rIns="0">
            <a:spAutoFit/>
          </a:bodyPr>
          <a:lstStyle/>
          <a:p>
            <a:pPr algn="ctr" marL="0" indent="0" lvl="0">
              <a:lnSpc>
                <a:spcPts val="10792"/>
              </a:lnSpc>
            </a:pPr>
          </a:p>
        </p:txBody>
      </p:sp>
      <p:sp>
        <p:nvSpPr>
          <p:cNvPr name="TextBox 14" id="14"/>
          <p:cNvSpPr txBox="true"/>
          <p:nvPr/>
        </p:nvSpPr>
        <p:spPr>
          <a:xfrm rot="0">
            <a:off x="13402196" y="4490352"/>
            <a:ext cx="2420710" cy="1476055"/>
          </a:xfrm>
          <a:prstGeom prst="rect">
            <a:avLst/>
          </a:prstGeom>
        </p:spPr>
        <p:txBody>
          <a:bodyPr anchor="t" rtlCol="false" tIns="0" lIns="0" bIns="0" rIns="0">
            <a:spAutoFit/>
          </a:bodyPr>
          <a:lstStyle/>
          <a:p>
            <a:pPr algn="ctr" marL="0" indent="0" lvl="0">
              <a:lnSpc>
                <a:spcPts val="10792"/>
              </a:lnSpc>
            </a:pPr>
          </a:p>
        </p:txBody>
      </p:sp>
      <p:sp>
        <p:nvSpPr>
          <p:cNvPr name="TextBox 15" id="15"/>
          <p:cNvSpPr txBox="true"/>
          <p:nvPr/>
        </p:nvSpPr>
        <p:spPr>
          <a:xfrm rot="0">
            <a:off x="1627876" y="6142779"/>
            <a:ext cx="4095146" cy="2071734"/>
          </a:xfrm>
          <a:prstGeom prst="rect">
            <a:avLst/>
          </a:prstGeom>
        </p:spPr>
        <p:txBody>
          <a:bodyPr anchor="t" rtlCol="false" tIns="0" lIns="0" bIns="0" rIns="0">
            <a:spAutoFit/>
          </a:bodyPr>
          <a:lstStyle/>
          <a:p>
            <a:pPr algn="just" marL="0" indent="0" lvl="0">
              <a:lnSpc>
                <a:spcPts val="2359"/>
              </a:lnSpc>
              <a:spcBef>
                <a:spcPct val="0"/>
              </a:spcBef>
            </a:pPr>
            <a:r>
              <a:rPr lang="en-US" b="true" sz="1685">
                <a:solidFill>
                  <a:srgbClr val="00694C"/>
                </a:solidFill>
                <a:latin typeface="Raleway Semi-Bold"/>
                <a:ea typeface="Raleway Semi-Bold"/>
                <a:cs typeface="Raleway Semi-Bold"/>
                <a:sym typeface="Raleway Semi-Bold"/>
              </a:rPr>
              <a:t>Dataset Sintetis Penonton Bioskop dengan 12 fitur numerik: usia, pendapatan, frekuensi kunjungan, genre favorit, waktu kunjungan, dan atribut demografis lainnya. Data dibangkitkan secara sintetis untuk mensimulasikan perilaku penonton nyata.</a:t>
            </a:r>
          </a:p>
        </p:txBody>
      </p:sp>
      <p:sp>
        <p:nvSpPr>
          <p:cNvPr name="TextBox 16" id="16"/>
          <p:cNvSpPr txBox="true"/>
          <p:nvPr/>
        </p:nvSpPr>
        <p:spPr>
          <a:xfrm rot="0">
            <a:off x="7096427" y="6142779"/>
            <a:ext cx="4095146" cy="2071734"/>
          </a:xfrm>
          <a:prstGeom prst="rect">
            <a:avLst/>
          </a:prstGeom>
        </p:spPr>
        <p:txBody>
          <a:bodyPr anchor="t" rtlCol="false" tIns="0" lIns="0" bIns="0" rIns="0">
            <a:spAutoFit/>
          </a:bodyPr>
          <a:lstStyle/>
          <a:p>
            <a:pPr algn="just" marL="0" indent="0" lvl="0">
              <a:lnSpc>
                <a:spcPts val="2359"/>
              </a:lnSpc>
              <a:spcBef>
                <a:spcPct val="0"/>
              </a:spcBef>
            </a:pPr>
            <a:r>
              <a:rPr lang="en-US" b="true" sz="1685">
                <a:solidFill>
                  <a:srgbClr val="00694C"/>
                </a:solidFill>
                <a:latin typeface="Raleway Semi-Bold"/>
                <a:ea typeface="Raleway Semi-Bold"/>
                <a:cs typeface="Raleway Semi-Bold"/>
                <a:sym typeface="Raleway Semi-Bold"/>
              </a:rPr>
              <a:t>Parameter Pengujian: ukuran data bervariasi dari 200 hingga 2000 penonton, jumlah prosesor MPI dari 4 hingga 22 proses, dan dimensi fitur dari 3 hingga 12 dimensi. Target klaster ditetapkan sebesar 5 klaster untuk semua skenario.</a:t>
            </a:r>
          </a:p>
        </p:txBody>
      </p:sp>
      <p:sp>
        <p:nvSpPr>
          <p:cNvPr name="TextBox 17" id="17"/>
          <p:cNvSpPr txBox="true"/>
          <p:nvPr/>
        </p:nvSpPr>
        <p:spPr>
          <a:xfrm rot="0">
            <a:off x="12564978" y="6142779"/>
            <a:ext cx="4095146" cy="1776459"/>
          </a:xfrm>
          <a:prstGeom prst="rect">
            <a:avLst/>
          </a:prstGeom>
        </p:spPr>
        <p:txBody>
          <a:bodyPr anchor="t" rtlCol="false" tIns="0" lIns="0" bIns="0" rIns="0">
            <a:spAutoFit/>
          </a:bodyPr>
          <a:lstStyle/>
          <a:p>
            <a:pPr algn="just" marL="0" indent="0" lvl="0">
              <a:lnSpc>
                <a:spcPts val="2359"/>
              </a:lnSpc>
              <a:spcBef>
                <a:spcPct val="0"/>
              </a:spcBef>
            </a:pPr>
            <a:r>
              <a:rPr lang="en-US" b="true" sz="1685">
                <a:solidFill>
                  <a:srgbClr val="00694C"/>
                </a:solidFill>
                <a:latin typeface="Raleway Semi-Bold"/>
                <a:ea typeface="Raleway Semi-Bold"/>
                <a:cs typeface="Raleway Semi-Bold"/>
                <a:sym typeface="Raleway Semi-Bold"/>
              </a:rPr>
              <a:t>Prosedur Evaluasi: setiap skenario diulang sebanyak 3 kali dan hasilnya dirata-ratakan untuk meminimalkan variasi. Metrik utama yang diukur adalah waktu eksekusi (detik) dan efisiensi paralelisasi antar proses MPI.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3461061"/>
            <a:ext cx="8955047" cy="5417500"/>
          </a:xfrm>
          <a:custGeom>
            <a:avLst/>
            <a:gdLst/>
            <a:ahLst/>
            <a:cxnLst/>
            <a:rect r="r" b="b" t="t" l="l"/>
            <a:pathLst>
              <a:path h="5417500" w="8955047">
                <a:moveTo>
                  <a:pt x="0" y="0"/>
                </a:moveTo>
                <a:lnTo>
                  <a:pt x="8955047" y="0"/>
                </a:lnTo>
                <a:lnTo>
                  <a:pt x="8955047" y="5417500"/>
                </a:lnTo>
                <a:lnTo>
                  <a:pt x="0" y="5417500"/>
                </a:lnTo>
                <a:lnTo>
                  <a:pt x="0" y="0"/>
                </a:lnTo>
                <a:close/>
              </a:path>
            </a:pathLst>
          </a:custGeom>
          <a:blipFill>
            <a:blip r:embed="rId2"/>
            <a:stretch>
              <a:fillRect l="0" t="0" r="0" b="0"/>
            </a:stretch>
          </a:blipFill>
        </p:spPr>
      </p:sp>
      <p:sp>
        <p:nvSpPr>
          <p:cNvPr name="TextBox 3" id="3"/>
          <p:cNvSpPr txBox="true"/>
          <p:nvPr/>
        </p:nvSpPr>
        <p:spPr>
          <a:xfrm rot="0">
            <a:off x="1219200" y="2024168"/>
            <a:ext cx="7924800" cy="3580313"/>
          </a:xfrm>
          <a:prstGeom prst="rect">
            <a:avLst/>
          </a:prstGeom>
        </p:spPr>
        <p:txBody>
          <a:bodyPr anchor="t" rtlCol="false" tIns="0" lIns="0" bIns="0" rIns="0">
            <a:spAutoFit/>
          </a:bodyPr>
          <a:lstStyle/>
          <a:p>
            <a:pPr algn="l" marL="0" indent="0" lvl="0">
              <a:lnSpc>
                <a:spcPts val="6949"/>
              </a:lnSpc>
            </a:pPr>
            <a:r>
              <a:rPr lang="en-US" b="true" sz="7721" spc="-355">
                <a:solidFill>
                  <a:srgbClr val="00694C"/>
                </a:solidFill>
                <a:latin typeface="Raleway Medium"/>
                <a:ea typeface="Raleway Medium"/>
                <a:cs typeface="Raleway Medium"/>
                <a:sym typeface="Raleway Medium"/>
              </a:rPr>
              <a:t>Hasil Pengujian: Variasi Jumlah Prosesor (4–22) dengan 1000 Data</a:t>
            </a:r>
          </a:p>
        </p:txBody>
      </p:sp>
      <p:sp>
        <p:nvSpPr>
          <p:cNvPr name="TextBox 4" id="4"/>
          <p:cNvSpPr txBox="true"/>
          <p:nvPr/>
        </p:nvSpPr>
        <p:spPr>
          <a:xfrm rot="0">
            <a:off x="1219200" y="5762577"/>
            <a:ext cx="7635008" cy="3115984"/>
          </a:xfrm>
          <a:prstGeom prst="rect">
            <a:avLst/>
          </a:prstGeom>
        </p:spPr>
        <p:txBody>
          <a:bodyPr anchor="t" rtlCol="false" tIns="0" lIns="0" bIns="0" rIns="0">
            <a:spAutoFit/>
          </a:bodyPr>
          <a:lstStyle/>
          <a:p>
            <a:pPr algn="l" marL="0" indent="0" lvl="0">
              <a:lnSpc>
                <a:spcPts val="3077"/>
              </a:lnSpc>
              <a:spcBef>
                <a:spcPct val="0"/>
              </a:spcBef>
            </a:pPr>
            <a:r>
              <a:rPr lang="en-US" b="true" sz="2198">
                <a:solidFill>
                  <a:srgbClr val="00694C"/>
                </a:solidFill>
                <a:latin typeface="Raleway Semi-Bold"/>
                <a:ea typeface="Raleway Semi-Bold"/>
                <a:cs typeface="Raleway Semi-Bold"/>
                <a:sym typeface="Raleway Semi-Bold"/>
              </a:rPr>
              <a:t>Waktu eksekusi tercepat dicapai pada 6 prosesor (29 detik), sedangkan penggunaan 22 prosesor justru memperlambat eksekusi (120 detik).</a:t>
            </a:r>
          </a:p>
          <a:p>
            <a:pPr algn="l" marL="0" indent="0" lvl="0">
              <a:lnSpc>
                <a:spcPts val="3077"/>
              </a:lnSpc>
              <a:spcBef>
                <a:spcPct val="0"/>
              </a:spcBef>
            </a:pPr>
            <a:r>
              <a:rPr lang="en-US" b="true" sz="2198">
                <a:solidFill>
                  <a:srgbClr val="00694C"/>
                </a:solidFill>
                <a:latin typeface="Raleway Semi-Bold"/>
                <a:ea typeface="Raleway Semi-Bold"/>
                <a:cs typeface="Raleway Semi-Bold"/>
                <a:sym typeface="Raleway Semi-Bold"/>
              </a:rPr>
              <a:t>Penyebab anomali: overhead komunikasi MPI, sinkronisasi antar proses, load imbalance, dan batasan Amdahl's Law.</a:t>
            </a:r>
          </a:p>
          <a:p>
            <a:pPr algn="l" marL="0" indent="0" lvl="0">
              <a:lnSpc>
                <a:spcPts val="3077"/>
              </a:lnSpc>
              <a:spcBef>
                <a:spcPct val="0"/>
              </a:spcBef>
            </a:pPr>
            <a:r>
              <a:rPr lang="en-US" b="true" sz="2198">
                <a:solidFill>
                  <a:srgbClr val="00694C"/>
                </a:solidFill>
                <a:latin typeface="Raleway Semi-Bold"/>
                <a:ea typeface="Raleway Semi-Bold"/>
                <a:cs typeface="Raleway Semi-Bold"/>
                <a:sym typeface="Raleway Semi-Bold"/>
              </a:rPr>
              <a:t>Kesimpulan: terdapat titik optimal prosesor — penambahan prosesor berlebihan menurunkan performa secara signifikan.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0">
            <a:off x="9011831" y="3255285"/>
            <a:ext cx="8901691" cy="5232751"/>
          </a:xfrm>
          <a:custGeom>
            <a:avLst/>
            <a:gdLst/>
            <a:ahLst/>
            <a:cxnLst/>
            <a:rect r="r" b="b" t="t" l="l"/>
            <a:pathLst>
              <a:path h="5232751" w="8901691">
                <a:moveTo>
                  <a:pt x="0" y="0"/>
                </a:moveTo>
                <a:lnTo>
                  <a:pt x="8901691" y="0"/>
                </a:lnTo>
                <a:lnTo>
                  <a:pt x="8901691" y="5232751"/>
                </a:lnTo>
                <a:lnTo>
                  <a:pt x="0" y="5232751"/>
                </a:lnTo>
                <a:lnTo>
                  <a:pt x="0" y="0"/>
                </a:lnTo>
                <a:close/>
              </a:path>
            </a:pathLst>
          </a:custGeom>
          <a:blipFill>
            <a:blip r:embed="rId2"/>
            <a:stretch>
              <a:fillRect l="0" t="0" r="0" b="0"/>
            </a:stretch>
          </a:blipFill>
        </p:spPr>
      </p:sp>
      <p:sp>
        <p:nvSpPr>
          <p:cNvPr name="TextBox 3" id="3"/>
          <p:cNvSpPr txBox="true"/>
          <p:nvPr/>
        </p:nvSpPr>
        <p:spPr>
          <a:xfrm rot="0">
            <a:off x="1219200" y="2024168"/>
            <a:ext cx="7924800" cy="3580313"/>
          </a:xfrm>
          <a:prstGeom prst="rect">
            <a:avLst/>
          </a:prstGeom>
        </p:spPr>
        <p:txBody>
          <a:bodyPr anchor="t" rtlCol="false" tIns="0" lIns="0" bIns="0" rIns="0">
            <a:spAutoFit/>
          </a:bodyPr>
          <a:lstStyle/>
          <a:p>
            <a:pPr algn="l" marL="0" indent="0" lvl="0">
              <a:lnSpc>
                <a:spcPts val="6949"/>
              </a:lnSpc>
            </a:pPr>
            <a:r>
              <a:rPr lang="en-US" b="true" sz="7721" spc="-355">
                <a:solidFill>
                  <a:srgbClr val="00694C"/>
                </a:solidFill>
                <a:latin typeface="Raleway Medium"/>
                <a:ea typeface="Raleway Medium"/>
                <a:cs typeface="Raleway Medium"/>
                <a:sym typeface="Raleway Medium"/>
              </a:rPr>
              <a:t>Hasil Pengujian</a:t>
            </a:r>
          </a:p>
          <a:p>
            <a:pPr algn="l" marL="0" indent="0" lvl="0">
              <a:lnSpc>
                <a:spcPts val="6949"/>
              </a:lnSpc>
            </a:pPr>
            <a:r>
              <a:rPr lang="en-US" b="true" sz="7721" spc="-355">
                <a:solidFill>
                  <a:srgbClr val="00694C"/>
                </a:solidFill>
                <a:latin typeface="Raleway Medium"/>
                <a:ea typeface="Raleway Medium"/>
                <a:cs typeface="Raleway Medium"/>
                <a:sym typeface="Raleway Medium"/>
              </a:rPr>
              <a:t>Variasi Ukuran Data</a:t>
            </a:r>
          </a:p>
          <a:p>
            <a:pPr algn="l" marL="0" indent="0" lvl="0">
              <a:lnSpc>
                <a:spcPts val="6949"/>
              </a:lnSpc>
            </a:pPr>
            <a:r>
              <a:rPr lang="en-US" b="true" sz="7721" spc="-355">
                <a:solidFill>
                  <a:srgbClr val="00694C"/>
                </a:solidFill>
                <a:latin typeface="Raleway Medium"/>
                <a:ea typeface="Raleway Medium"/>
                <a:cs typeface="Raleway Medium"/>
                <a:sym typeface="Raleway Medium"/>
              </a:rPr>
              <a:t>(200–2000)</a:t>
            </a:r>
          </a:p>
        </p:txBody>
      </p:sp>
      <p:sp>
        <p:nvSpPr>
          <p:cNvPr name="TextBox 4" id="4"/>
          <p:cNvSpPr txBox="true"/>
          <p:nvPr/>
        </p:nvSpPr>
        <p:spPr>
          <a:xfrm rot="0">
            <a:off x="1219200" y="5762577"/>
            <a:ext cx="7392699" cy="2725459"/>
          </a:xfrm>
          <a:prstGeom prst="rect">
            <a:avLst/>
          </a:prstGeom>
        </p:spPr>
        <p:txBody>
          <a:bodyPr anchor="t" rtlCol="false" tIns="0" lIns="0" bIns="0" rIns="0">
            <a:spAutoFit/>
          </a:bodyPr>
          <a:lstStyle/>
          <a:p>
            <a:pPr algn="just" marL="0" indent="0" lvl="0">
              <a:lnSpc>
                <a:spcPts val="3077"/>
              </a:lnSpc>
              <a:spcBef>
                <a:spcPct val="0"/>
              </a:spcBef>
            </a:pPr>
            <a:r>
              <a:rPr lang="en-US" b="true" sz="2198">
                <a:solidFill>
                  <a:srgbClr val="00694C"/>
                </a:solidFill>
                <a:latin typeface="Raleway Semi-Bold"/>
                <a:ea typeface="Raleway Semi-Bold"/>
                <a:cs typeface="Raleway Semi-Bold"/>
                <a:sym typeface="Raleway Semi-Bold"/>
              </a:rPr>
              <a:t>Pengujian dilakukan dengan 10 prosesor dan variasi ukuran data 200–2000 penonton bioskop.</a:t>
            </a:r>
          </a:p>
          <a:p>
            <a:pPr algn="just" marL="0" indent="0" lvl="0">
              <a:lnSpc>
                <a:spcPts val="3077"/>
              </a:lnSpc>
              <a:spcBef>
                <a:spcPct val="0"/>
              </a:spcBef>
            </a:pPr>
            <a:r>
              <a:rPr lang="en-US" b="true" sz="2198">
                <a:solidFill>
                  <a:srgbClr val="00694C"/>
                </a:solidFill>
                <a:latin typeface="Raleway Semi-Bold"/>
                <a:ea typeface="Raleway Semi-Bold"/>
                <a:cs typeface="Raleway Semi-Bold"/>
                <a:sym typeface="Raleway Semi-Bold"/>
              </a:rPr>
              <a:t>Temuan utama: Waktu eksekusi meningkat signifikan seiring bertambahnya jumlah data. Kompleksitas komputasi matriks jarak O(n²) menyebabkan beban kerja meningkat drastis pada data besar, sehingga efisiensi paralel mulai menurun pada skala data tinggi.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3752427"/>
            <a:ext cx="9026358" cy="5505873"/>
          </a:xfrm>
          <a:custGeom>
            <a:avLst/>
            <a:gdLst/>
            <a:ahLst/>
            <a:cxnLst/>
            <a:rect r="r" b="b" t="t" l="l"/>
            <a:pathLst>
              <a:path h="5505873" w="9026358">
                <a:moveTo>
                  <a:pt x="0" y="0"/>
                </a:moveTo>
                <a:lnTo>
                  <a:pt x="9026358" y="0"/>
                </a:lnTo>
                <a:lnTo>
                  <a:pt x="9026358" y="5505873"/>
                </a:lnTo>
                <a:lnTo>
                  <a:pt x="0" y="5505873"/>
                </a:lnTo>
                <a:lnTo>
                  <a:pt x="0" y="0"/>
                </a:lnTo>
                <a:close/>
              </a:path>
            </a:pathLst>
          </a:custGeom>
          <a:blipFill>
            <a:blip r:embed="rId2"/>
            <a:stretch>
              <a:fillRect l="0" t="0" r="0" b="0"/>
            </a:stretch>
          </a:blipFill>
        </p:spPr>
      </p:sp>
      <p:sp>
        <p:nvSpPr>
          <p:cNvPr name="TextBox 3" id="3"/>
          <p:cNvSpPr txBox="true"/>
          <p:nvPr/>
        </p:nvSpPr>
        <p:spPr>
          <a:xfrm rot="0">
            <a:off x="1219200" y="2145285"/>
            <a:ext cx="7924800" cy="3385705"/>
          </a:xfrm>
          <a:prstGeom prst="rect">
            <a:avLst/>
          </a:prstGeom>
        </p:spPr>
        <p:txBody>
          <a:bodyPr anchor="t" rtlCol="false" tIns="0" lIns="0" bIns="0" rIns="0">
            <a:spAutoFit/>
          </a:bodyPr>
          <a:lstStyle/>
          <a:p>
            <a:pPr algn="l" marL="0" indent="0" lvl="0">
              <a:lnSpc>
                <a:spcPts val="8652"/>
              </a:lnSpc>
            </a:pPr>
            <a:r>
              <a:rPr lang="en-US" b="true" sz="9613" spc="-442">
                <a:solidFill>
                  <a:srgbClr val="00694C"/>
                </a:solidFill>
                <a:latin typeface="Raleway Medium"/>
                <a:ea typeface="Raleway Medium"/>
                <a:cs typeface="Raleway Medium"/>
                <a:sym typeface="Raleway Medium"/>
              </a:rPr>
              <a:t>Hasil Pengujian - Variasi Dimensi (3–12)</a:t>
            </a:r>
          </a:p>
        </p:txBody>
      </p:sp>
      <p:sp>
        <p:nvSpPr>
          <p:cNvPr name="TextBox 4" id="4"/>
          <p:cNvSpPr txBox="true"/>
          <p:nvPr/>
        </p:nvSpPr>
        <p:spPr>
          <a:xfrm rot="0">
            <a:off x="1219200" y="5762577"/>
            <a:ext cx="7635008" cy="3115984"/>
          </a:xfrm>
          <a:prstGeom prst="rect">
            <a:avLst/>
          </a:prstGeom>
        </p:spPr>
        <p:txBody>
          <a:bodyPr anchor="t" rtlCol="false" tIns="0" lIns="0" bIns="0" rIns="0">
            <a:spAutoFit/>
          </a:bodyPr>
          <a:lstStyle/>
          <a:p>
            <a:pPr algn="l" marL="0" indent="0" lvl="0">
              <a:lnSpc>
                <a:spcPts val="3077"/>
              </a:lnSpc>
              <a:spcBef>
                <a:spcPct val="0"/>
              </a:spcBef>
            </a:pPr>
            <a:r>
              <a:rPr lang="en-US" b="true" sz="2198">
                <a:solidFill>
                  <a:srgbClr val="00694C"/>
                </a:solidFill>
                <a:latin typeface="Raleway Semi-Bold"/>
                <a:ea typeface="Raleway Semi-Bold"/>
                <a:cs typeface="Raleway Semi-Bold"/>
                <a:sym typeface="Raleway Semi-Bold"/>
              </a:rPr>
              <a:t>Pengujian dilakukan dengan 1000 data dan 10 prosesor, memvariasikan jumlah dimensi fitur dari 3 hingga 12.</a:t>
            </a:r>
          </a:p>
          <a:p>
            <a:pPr algn="l" marL="0" indent="0" lvl="0">
              <a:lnSpc>
                <a:spcPts val="3077"/>
              </a:lnSpc>
              <a:spcBef>
                <a:spcPct val="0"/>
              </a:spcBef>
            </a:pPr>
            <a:r>
              <a:rPr lang="en-US" b="true" sz="2198">
                <a:solidFill>
                  <a:srgbClr val="00694C"/>
                </a:solidFill>
                <a:latin typeface="Raleway Semi-Bold"/>
                <a:ea typeface="Raleway Semi-Bold"/>
                <a:cs typeface="Raleway Semi-Bold"/>
                <a:sym typeface="Raleway Semi-Bold"/>
              </a:rPr>
              <a:t>Hasil menunjukkan waktu eksekusi relatif stabil di seluruh variasi dimensi. Dimensi fitur tidak berpengaruh signifikan terhadap waktu komputasi.</a:t>
            </a:r>
          </a:p>
          <a:p>
            <a:pPr algn="l" marL="0" indent="0" lvl="0">
              <a:lnSpc>
                <a:spcPts val="3077"/>
              </a:lnSpc>
              <a:spcBef>
                <a:spcPct val="0"/>
              </a:spcBef>
            </a:pPr>
            <a:r>
              <a:rPr lang="en-US" b="true" sz="2198">
                <a:solidFill>
                  <a:srgbClr val="00694C"/>
                </a:solidFill>
                <a:latin typeface="Raleway Semi-Bold"/>
                <a:ea typeface="Raleway Semi-Bold"/>
                <a:cs typeface="Raleway Semi-Bold"/>
                <a:sym typeface="Raleway Semi-Bold"/>
              </a:rPr>
              <a:t>Kesimpulan: Faktor dominan yang memengaruhi performa adalah ukuran data dan jumlah prosesor, bukan jumlah dimensi fitur.</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BF6F1"/>
        </a:solidFill>
      </p:bgPr>
    </p:bg>
    <p:spTree>
      <p:nvGrpSpPr>
        <p:cNvPr id="1" name=""/>
        <p:cNvGrpSpPr/>
        <p:nvPr/>
      </p:nvGrpSpPr>
      <p:grpSpPr>
        <a:xfrm>
          <a:off x="0" y="0"/>
          <a:ext cx="0" cy="0"/>
          <a:chOff x="0" y="0"/>
          <a:chExt cx="0" cy="0"/>
        </a:xfrm>
      </p:grpSpPr>
      <p:sp>
        <p:nvSpPr>
          <p:cNvPr name="TextBox 2" id="2"/>
          <p:cNvSpPr txBox="true"/>
          <p:nvPr/>
        </p:nvSpPr>
        <p:spPr>
          <a:xfrm rot="0">
            <a:off x="2386180" y="4979674"/>
            <a:ext cx="13515640" cy="565118"/>
          </a:xfrm>
          <a:prstGeom prst="rect">
            <a:avLst/>
          </a:prstGeom>
        </p:spPr>
        <p:txBody>
          <a:bodyPr anchor="t" rtlCol="false" tIns="0" lIns="0" bIns="0" rIns="0">
            <a:spAutoFit/>
          </a:bodyPr>
          <a:lstStyle/>
          <a:p>
            <a:pPr algn="ctr" marL="0" indent="0" lvl="0">
              <a:lnSpc>
                <a:spcPts val="4124"/>
              </a:lnSpc>
            </a:pPr>
            <a:r>
              <a:rPr lang="en-US" b="true" sz="4582" spc="-210">
                <a:solidFill>
                  <a:srgbClr val="00694C"/>
                </a:solidFill>
                <a:latin typeface="Raleway Medium"/>
                <a:ea typeface="Raleway Medium"/>
                <a:cs typeface="Raleway Medium"/>
                <a:sym typeface="Raleway Medium"/>
              </a:rPr>
              <a:t>Kesimpulan: Efektivitas MPI dalam Pemrosesan Paralel</a:t>
            </a:r>
          </a:p>
        </p:txBody>
      </p:sp>
      <p:sp>
        <p:nvSpPr>
          <p:cNvPr name="TextBox 3" id="3"/>
          <p:cNvSpPr txBox="true"/>
          <p:nvPr/>
        </p:nvSpPr>
        <p:spPr>
          <a:xfrm rot="0">
            <a:off x="2717437" y="5894349"/>
            <a:ext cx="12853125" cy="2725459"/>
          </a:xfrm>
          <a:prstGeom prst="rect">
            <a:avLst/>
          </a:prstGeom>
        </p:spPr>
        <p:txBody>
          <a:bodyPr anchor="t" rtlCol="false" tIns="0" lIns="0" bIns="0" rIns="0">
            <a:spAutoFit/>
          </a:bodyPr>
          <a:lstStyle/>
          <a:p>
            <a:pPr algn="ctr" marL="0" indent="0" lvl="0">
              <a:lnSpc>
                <a:spcPts val="3077"/>
              </a:lnSpc>
              <a:spcBef>
                <a:spcPct val="0"/>
              </a:spcBef>
            </a:pPr>
            <a:r>
              <a:rPr lang="en-US" b="true" sz="2198">
                <a:solidFill>
                  <a:srgbClr val="00694C"/>
                </a:solidFill>
                <a:latin typeface="Raleway Semi-Bold"/>
                <a:ea typeface="Raleway Semi-Bold"/>
                <a:cs typeface="Raleway Semi-Bold"/>
                <a:sym typeface="Raleway Semi-Bold"/>
              </a:rPr>
              <a:t>Implementasi MPI berhasil mengurangi waktu eksekusi HCA lebih dari 50% dibandingkan komputasi sekuensial. Titik optimal prosesor ditemukan pada 6 prosesor (29 detik), sementara penambahan prosesor berlebihan hingga 22 prosesor justru memperlambat eksekusi (120 detik) akibat overhead komunikasi dan load imbalance. Peningkatan ukuran data berdampak signifikan terhadap waktu komputasi, sedangkan variasi dimensi fitur tidak berpengaruh besar. Keseimbangan antara jumlah data, jumlah prosesor, dan overhead komunikasi merupakan faktor kunci untuk mencapai performa maksimal dalam klasterisasi data penonton bioskop.</a:t>
            </a:r>
          </a:p>
        </p:txBody>
      </p:sp>
      <p:sp>
        <p:nvSpPr>
          <p:cNvPr name="TextBox 4" id="4"/>
          <p:cNvSpPr txBox="true"/>
          <p:nvPr/>
        </p:nvSpPr>
        <p:spPr>
          <a:xfrm rot="0">
            <a:off x="4431909" y="2383441"/>
            <a:ext cx="9424182" cy="1872070"/>
          </a:xfrm>
          <a:prstGeom prst="rect">
            <a:avLst/>
          </a:prstGeom>
        </p:spPr>
        <p:txBody>
          <a:bodyPr anchor="t" rtlCol="false" tIns="0" lIns="0" bIns="0" rIns="0">
            <a:spAutoFit/>
          </a:bodyPr>
          <a:lstStyle/>
          <a:p>
            <a:pPr algn="ctr" marL="0" indent="0" lvl="0">
              <a:lnSpc>
                <a:spcPts val="13531"/>
              </a:lnSpc>
            </a:pPr>
            <a:r>
              <a:rPr lang="en-US" b="true" sz="15035" spc="-691">
                <a:solidFill>
                  <a:srgbClr val="00694C"/>
                </a:solidFill>
                <a:latin typeface="Raleway Bold"/>
                <a:ea typeface="Raleway Bold"/>
                <a:cs typeface="Raleway Bold"/>
                <a:sym typeface="Raleway Bold"/>
              </a:rPr>
              <a:t>50%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F6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923791" y="-783256"/>
            <a:ext cx="11853512" cy="11853512"/>
          </a:xfrm>
          <a:custGeom>
            <a:avLst/>
            <a:gdLst/>
            <a:ahLst/>
            <a:cxnLst/>
            <a:rect r="r" b="b" t="t" l="l"/>
            <a:pathLst>
              <a:path h="11853512" w="11853512">
                <a:moveTo>
                  <a:pt x="0" y="0"/>
                </a:moveTo>
                <a:lnTo>
                  <a:pt x="11853513" y="0"/>
                </a:lnTo>
                <a:lnTo>
                  <a:pt x="11853513" y="11853512"/>
                </a:lnTo>
                <a:lnTo>
                  <a:pt x="0" y="11853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19200" y="2376614"/>
            <a:ext cx="8144502" cy="5686173"/>
          </a:xfrm>
          <a:prstGeom prst="rect">
            <a:avLst/>
          </a:prstGeom>
        </p:spPr>
        <p:txBody>
          <a:bodyPr anchor="t" rtlCol="false" tIns="0" lIns="0" bIns="0" rIns="0">
            <a:spAutoFit/>
          </a:bodyPr>
          <a:lstStyle/>
          <a:p>
            <a:pPr algn="l" marL="0" indent="0" lvl="0">
              <a:lnSpc>
                <a:spcPts val="11019"/>
              </a:lnSpc>
            </a:pPr>
            <a:r>
              <a:rPr lang="en-US" b="true" sz="12243" spc="-563">
                <a:solidFill>
                  <a:srgbClr val="00694C"/>
                </a:solidFill>
                <a:latin typeface="Raleway Medium"/>
                <a:ea typeface="Raleway Medium"/>
                <a:cs typeface="Raleway Medium"/>
                <a:sym typeface="Raleway Medium"/>
              </a:rPr>
              <a:t>Terima Kasih!</a:t>
            </a:r>
          </a:p>
          <a:p>
            <a:pPr algn="l" marL="0" indent="0" lvl="0">
              <a:lnSpc>
                <a:spcPts val="11019"/>
              </a:lnSpc>
            </a:pPr>
            <a:r>
              <a:rPr lang="en-US" b="true" sz="12243" spc="-563">
                <a:solidFill>
                  <a:srgbClr val="00694C"/>
                </a:solidFill>
                <a:latin typeface="Raleway Medium"/>
                <a:ea typeface="Raleway Medium"/>
                <a:cs typeface="Raleway Medium"/>
                <a:sym typeface="Raleway Medium"/>
              </a:rPr>
              <a:t>Sesi Tanya Jawab</a:t>
            </a:r>
          </a:p>
        </p:txBody>
      </p:sp>
      <p:sp>
        <p:nvSpPr>
          <p:cNvPr name="TextBox 4" id="4"/>
          <p:cNvSpPr txBox="true"/>
          <p:nvPr/>
        </p:nvSpPr>
        <p:spPr>
          <a:xfrm rot="0">
            <a:off x="1219200" y="8915210"/>
            <a:ext cx="9179504" cy="286127"/>
          </a:xfrm>
          <a:prstGeom prst="rect">
            <a:avLst/>
          </a:prstGeom>
        </p:spPr>
        <p:txBody>
          <a:bodyPr anchor="t" rtlCol="false" tIns="0" lIns="0" bIns="0" rIns="0">
            <a:spAutoFit/>
          </a:bodyPr>
          <a:lstStyle/>
          <a:p>
            <a:pPr algn="l" marL="0" indent="0" lvl="0">
              <a:lnSpc>
                <a:spcPts val="2033"/>
              </a:lnSpc>
            </a:pPr>
            <a:r>
              <a:rPr lang="en-US" b="true" sz="2259" spc="-103">
                <a:solidFill>
                  <a:srgbClr val="00694C"/>
                </a:solidFill>
                <a:latin typeface="Raleway Medium"/>
                <a:ea typeface="Raleway Medium"/>
                <a:cs typeface="Raleway Medium"/>
                <a:sym typeface="Raleway Medium"/>
              </a:rPr>
              <a:t>Ahmad Yadan Ulya Munaji · M. Ismail Cahyadi · Yoga Adiguna · ZAKY</a:t>
            </a:r>
          </a:p>
        </p:txBody>
      </p:sp>
      <p:sp>
        <p:nvSpPr>
          <p:cNvPr name="TextBox 5" id="5"/>
          <p:cNvSpPr txBox="true"/>
          <p:nvPr/>
        </p:nvSpPr>
        <p:spPr>
          <a:xfrm rot="0">
            <a:off x="1219200" y="1142813"/>
            <a:ext cx="9179504" cy="286127"/>
          </a:xfrm>
          <a:prstGeom prst="rect">
            <a:avLst/>
          </a:prstGeom>
        </p:spPr>
        <p:txBody>
          <a:bodyPr anchor="t" rtlCol="false" tIns="0" lIns="0" bIns="0" rIns="0">
            <a:spAutoFit/>
          </a:bodyPr>
          <a:lstStyle/>
          <a:p>
            <a:pPr algn="l" marL="0" indent="0" lvl="0">
              <a:lnSpc>
                <a:spcPts val="2033"/>
              </a:lnSpc>
            </a:pPr>
            <a:r>
              <a:rPr lang="en-US" b="true" sz="2259" spc="-103">
                <a:solidFill>
                  <a:srgbClr val="00694C"/>
                </a:solidFill>
                <a:latin typeface="Raleway Medium"/>
                <a:ea typeface="Raleway Medium"/>
                <a:cs typeface="Raleway Medium"/>
                <a:sym typeface="Raleway Medium"/>
              </a:rPr>
              <a:t>SENIFORMA 2026 — Program Studi Teknik Informatika, Universitas Mataram</a:t>
            </a:r>
          </a:p>
        </p:txBody>
      </p:sp>
      <p:sp>
        <p:nvSpPr>
          <p:cNvPr name="Freeform 6" id="6"/>
          <p:cNvSpPr/>
          <p:nvPr/>
        </p:nvSpPr>
        <p:spPr>
          <a:xfrm flipH="false" flipV="false" rot="0">
            <a:off x="10976728" y="2023905"/>
            <a:ext cx="7451945" cy="6507465"/>
          </a:xfrm>
          <a:custGeom>
            <a:avLst/>
            <a:gdLst/>
            <a:ahLst/>
            <a:cxnLst/>
            <a:rect r="r" b="b" t="t" l="l"/>
            <a:pathLst>
              <a:path h="6507465" w="7451945">
                <a:moveTo>
                  <a:pt x="0" y="0"/>
                </a:moveTo>
                <a:lnTo>
                  <a:pt x="7451945" y="0"/>
                </a:lnTo>
                <a:lnTo>
                  <a:pt x="7451945" y="6507465"/>
                </a:lnTo>
                <a:lnTo>
                  <a:pt x="0" y="6507465"/>
                </a:lnTo>
                <a:lnTo>
                  <a:pt x="0" y="0"/>
                </a:lnTo>
                <a:close/>
              </a:path>
            </a:pathLst>
          </a:custGeom>
          <a:blipFill>
            <a:blip r:embed="rId4"/>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DAHMg0f-Efo</dc:identifier>
  <dcterms:modified xsi:type="dcterms:W3CDTF">2011-08-01T06:04:30Z</dcterms:modified>
  <cp:revision>1</cp:revision>
  <dc:title>Salinan dari Implementasi HCA Paralel untuk Klaster Penonton Bioskop</dc:title>
</cp:coreProperties>
</file>